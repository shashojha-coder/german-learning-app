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975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presentation covers the MDA strategic timeline and rollout plan for the new DB FZI Cottbus plant, targeting a June 2027 Start of Production (SoP). The plan follows a Stage-Gate® methodology and tiered system prioritisation.</a:t>
            </a:r>
          </a:p>
          <a:p/>
          <a:p>
            <a:r>
              <a:t>References:</a:t>
            </a:r>
          </a:p>
          <a:p>
            <a:r>
              <a:t>PMI. (2021). PMBOK® Guide — A guide to the project management body of knowledge (7th ed.). Project Management Institute.</a:t>
            </a:r>
          </a:p>
          <a:p>
            <a:r>
              <a:t>Cooper, R. G. (1990). Stage-gate systems: A new tool for managing new products. Business Horizons, 33(3), 44–54.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agenda covers five key areas: hybrid rollout strategy, system prioritisation tiers, the four-phase timeline to SoP, key tools &amp; methods, and the MDA Blueprint for cross-plant rollout.</a:t>
            </a:r>
          </a:p>
          <a:p/>
          <a:p>
            <a:r>
              <a:t>References:</a:t>
            </a:r>
          </a:p>
          <a:p>
            <a:r>
              <a:t>Kerzner, H. (2022). Project management: A systems approach to planning, scheduling, and controlling (13th ed.). Wiley.</a:t>
            </a:r>
          </a:p>
          <a:p>
            <a:r>
              <a:t>Cooper, R. G. (1990). Stage-gate systems: A new tool for managing new products. Business Horizons, 33(3), 44–54.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hybrid sequencing logic combines three criteria: system criticality (safety-critical first), building section readiness (completed areas first), and interface type clustering (OPC-UA bundles). This avoids the limitations of a purely system-type or section-only approach.</a:t>
            </a:r>
          </a:p>
          <a:p/>
          <a:p>
            <a:r>
              <a:t>References:</a:t>
            </a:r>
          </a:p>
          <a:p>
            <a:r>
              <a:t>Cooper, R. G. (1990). Stage-gate systems: A new tool for managing new products. Business Horizons, 33(3), 44–54, p. 47.</a:t>
            </a:r>
          </a:p>
          <a:p>
            <a:r>
              <a:t>Kerzner, H. (2022). Project management: A systems approach to planning, scheduling, and controlling (13th ed.). Wiley, pp. 108–133.</a:t>
            </a:r>
          </a:p>
          <a:p>
            <a:r>
              <a:t>Turner, J. R., &amp; Cochrane, R. A. (1993). Goals-and-methods matrix: Coping with projects with ill-defined goals and/or methods of achieving them. International Journal of Project Management, 11(2), 93–102.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100 systems are categorised into three tiers based on operational criticality. Tier 1 (~15–20 systems) covers safety-critical assets such as wheel lathes, lifting systems, and brake test rigs. Tier 2 (~50 systems) addresses OEE-impact assets. Tier 3 (~30–35 systems) covers standard workshop equipment. This prioritisation follows Cooper's (1990) recommendation to sequence deliverables by value and risk.</a:t>
            </a:r>
          </a:p>
          <a:p/>
          <a:p>
            <a:r>
              <a:t>References:</a:t>
            </a:r>
          </a:p>
          <a:p>
            <a:r>
              <a:t>Cooper, R. G. (1990). Stage-gate systems: A new tool for managing new products. Business Horizons, 33(3), 44–54.</a:t>
            </a:r>
          </a:p>
          <a:p>
            <a:r>
              <a:t>PMI. (2021). PMBOK® Guide (7th ed.). Project Management Institute, p. 245 — definition of milestones.</a:t>
            </a:r>
          </a:p>
          <a:p>
            <a:r>
              <a:t>Turner, J. R., &amp; Cochrane, R. A. (1993). Goals-and-methods matrix. International Journal of Project Management, 11(2), 93–102.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Gantt chart shows the tier-by-tier rollout schedule from Q1 2026 to the June 2027 SoP. Phase 0 (Foundation) establishes architecture and vendor contracts. Phase 1 (Pilot) connects Tier 1 safety-critical systems. Phase 2 (Scale-Up) rolls out Tier 2 and Tier 3 systems. Phase 3 (SoP Ready) completes acceptance and handover. A 4–6 week buffer is embedded at each phase transition to absorb construction or vendor delays.</a:t>
            </a:r>
          </a:p>
          <a:p/>
          <a:p>
            <a:r>
              <a:t>References:</a:t>
            </a:r>
          </a:p>
          <a:p>
            <a:r>
              <a:t>Cooper, R. G. (1990). Stage-gate systems: A new tool for managing new products. Business Horizons, 33(3), 44–54, p. 47 — phase-gate scheduling.</a:t>
            </a:r>
          </a:p>
          <a:p>
            <a:r>
              <a:t>Kerzner, H. (2022). Project management (13th ed.). Wiley, p. 133 — CPM scheduling standard for hard deadlines.</a:t>
            </a:r>
          </a:p>
          <a:p>
            <a:r>
              <a:t>Cooper, R. G. (2008). The Stage-Gate® idea-to-launch process — Update, what's new, and NexGen systems. Journal of Product Innovation Management, 25(3), 213–232.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four phases follow Cooper's (1990, 2008) Stage-Gate® model: each phase ends with a management decision gate before the next phase is authorised. Phase 0 finalises the MDA architecture, Phase 1 connects pilot Tier 1 systems, Phase 2 scales to remaining ~80 systems, and Phase 3 delivers full acceptance and SoP handover.</a:t>
            </a:r>
          </a:p>
          <a:p/>
          <a:p>
            <a:r>
              <a:t>References:</a:t>
            </a:r>
          </a:p>
          <a:p>
            <a:r>
              <a:t>Cooper, R. G. (1990). Stage-gate systems: A new tool for managing new products. Business Horizons, 33(3), 44–54.</a:t>
            </a:r>
          </a:p>
          <a:p>
            <a:r>
              <a:t>Cooper, R. G. (2008). The Stage-Gate® idea-to-launch process. Journal of Product Innovation Management, 25(3), 213–232, p. 215.</a:t>
            </a:r>
          </a:p>
          <a:p>
            <a:r>
              <a:t>PMI. (2021). PMBOK® Guide (7th ed.). Project Management Institute — milestone-based project planning.</a:t>
            </a:r>
          </a:p>
          <a:p>
            <a:r>
              <a:t>Andersen, E. S., Grude, K. V., &amp; Haug, T. (2009). Goal directed project management (4th ed.). Kogan Page — participatory milestone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key tools split into project management (MS Project/Jira, RACI Matrix, Risk Register, Interface Catalogue) and technical infrastructure (IoT Middleware, OPC-UA Adapters, OEE Dashboard, MES/SAP-PM Connectors). MS Project with CPM is the scheduling standard for projects with hard external deadlines (Kerzner, 2022, p. 133).</a:t>
            </a:r>
          </a:p>
          <a:p/>
          <a:p>
            <a:r>
              <a:t>References:</a:t>
            </a:r>
          </a:p>
          <a:p>
            <a:r>
              <a:t>Kerzner, H. (2022). Project management: A systems approach to planning, scheduling, and controlling (13th ed.). Wiley, p. 133.</a:t>
            </a:r>
          </a:p>
          <a:p>
            <a:r>
              <a:t>PMI. (2021). PMBOK® Guide (7th ed.). Project Management Institute, p. 160 — RACI framework.</a:t>
            </a:r>
          </a:p>
          <a:p>
            <a:r>
              <a:t>Davis, S. M., &amp; Lawrence, P. R. (1977). Matrix. Addison-Wesley — matrix governance and role clarity.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MDA Blueprint captures all technical and organisational learnings from Cottbus in a structured, transferable format. Blueprint v1 is delivered at the end of Phase 1 (Q4 2026), and Blueprint v2 — the definitive cross-plant guide — at SoP (June 2027). Components include interface connector specs, data model standards, vendor templates, and a Works Council playbook.</a:t>
            </a:r>
          </a:p>
          <a:p/>
          <a:p>
            <a:r>
              <a:t>References:</a:t>
            </a:r>
          </a:p>
          <a:p>
            <a:r>
              <a:t>Cooper, R. G. (2008). The Stage-Gate® idea-to-launch process. Journal of Product Innovation Management, 25(3), 213–232 — knowledge capture across gates.</a:t>
            </a:r>
          </a:p>
          <a:p>
            <a:r>
              <a:t>Kerzner, H. (2022). Project management (13th ed.). Wiley — lessons learned and knowledge management.</a:t>
            </a:r>
          </a:p>
          <a:p>
            <a:r>
              <a:t>PMI. (2021). PMBOK® Guide (7th ed.). Project Management Institute — organisational process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key takeaways: (1) Hybrid sequencing combines criticality, readiness, and interface clustering. (2) Four buffer-protected phases lead to the June 2027 SoP. (3) Tiered prioritisation ensures Tier 1 safety-critical systems deliver value first. (4) The MDA Blueprint transforms Cottbus learnings into reusable assets for all future DB FZI plants.</a:t>
            </a:r>
          </a:p>
          <a:p/>
          <a:p>
            <a:r>
              <a:t>References:</a:t>
            </a:r>
          </a:p>
          <a:p>
            <a:r>
              <a:t>PMI. (2021). PMBOK® Guide — A guide to the project management body of knowledge (7th ed.). Project Management Institute.</a:t>
            </a:r>
          </a:p>
          <a:p>
            <a:r>
              <a:t>Kerzner, H. (2022). Project management: A systems approach to planning, scheduling, and controlling (13th ed.). Wiley.</a:t>
            </a:r>
          </a:p>
          <a:p>
            <a:r>
              <a:t>Cooper, R. G. (1990). Stage-gate systems: A new tool for managing new products. Business Horizons, 33(3), 44–54.</a:t>
            </a:r>
          </a:p>
          <a:p>
            <a:r>
              <a:t>Cooper, R. G. (2008). The Stage-Gate® idea-to-launch process — Update, what's new, and NexGen systems. Journal of Product Innovation Management, 25(3), 213–232.</a:t>
            </a:r>
          </a:p>
          <a:p>
            <a:r>
              <a:t>Turner, J. R., &amp; Cochrane, R. A. (1993). Goals-and-methods matrix. International Journal of Project Management, 11(2), 93–102.</a:t>
            </a:r>
          </a:p>
          <a:p>
            <a:r>
              <a:t>Galbraith, J. R. (1971). Matrix organization designs. Business Horizons, 14(1), 29–40.</a:t>
            </a:r>
          </a:p>
          <a:p>
            <a:r>
              <a:t>Davis, S. M., &amp; Lawrence, P. R. (1977). Matrix. Addison-Wesley.</a:t>
            </a:r>
          </a:p>
          <a:p>
            <a:r>
              <a:t>Andersen, E. S., Grude, K. V., &amp; Haug, T. (2009). Goal directed project management (4th ed.). Kogan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E2C8B5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680960" y="-548640"/>
            <a:ext cx="2011680" cy="2011680"/>
          </a:xfrm>
          <a:prstGeom prst="ellipse">
            <a:avLst/>
          </a:prstGeom>
          <a:solidFill>
            <a:srgbClr val="E2C8B5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E2C8B5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55371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Fahrzeuginstandhaltung  |  New Cottbus Plant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DATA ACQUISITION (MDA)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554480"/>
            <a:ext cx="7498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Timeline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Rollout Plan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74320" y="340156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5: Milestones &amp; Tools  ·  June 2027 SoP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3931920"/>
            <a:ext cx="2011680" cy="347472"/>
          </a:xfrm>
          <a:prstGeom prst="rect">
            <a:avLst/>
          </a:prstGeom>
          <a:solidFill>
            <a:srgbClr val="D73729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274320" y="3931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200" b="1" baseline="30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</a:t>
            </a:r>
            <a:r>
              <a:rPr lang="en-US" sz="12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0" y="0"/>
            <a:ext cx="54864" cy="5143500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57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82880" y="10058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</a:t>
            </a:r>
            <a:endParaRPr lang="en-US" sz="2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cover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0" y="548640"/>
            <a:ext cx="502920" cy="502920"/>
          </a:xfrm>
          <a:prstGeom prst="rect">
            <a:avLst/>
          </a:prstGeom>
          <a:solidFill>
            <a:srgbClr val="E2C8B5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548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40480" y="56692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Rollout Strategy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0" y="1353312"/>
            <a:ext cx="502920" cy="502920"/>
          </a:xfrm>
          <a:prstGeom prst="rect">
            <a:avLst/>
          </a:prstGeom>
          <a:solidFill>
            <a:srgbClr val="E2C8B5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40480" y="13716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Prioritisation Tiers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00400" y="2157984"/>
            <a:ext cx="502920" cy="502920"/>
          </a:xfrm>
          <a:prstGeom prst="rect">
            <a:avLst/>
          </a:prstGeom>
          <a:solidFill>
            <a:srgbClr val="E2C8B5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2157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40480" y="217627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Four-Phase Timeline to SoP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00400" y="2962656"/>
            <a:ext cx="502920" cy="502920"/>
          </a:xfrm>
          <a:prstGeom prst="rect">
            <a:avLst/>
          </a:prstGeom>
          <a:solidFill>
            <a:srgbClr val="E2C8B5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2962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40480" y="29809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Tools &amp; Methods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200400" y="3767328"/>
            <a:ext cx="502920" cy="502920"/>
          </a:xfrm>
          <a:prstGeom prst="rect">
            <a:avLst/>
          </a:prstGeom>
          <a:solidFill>
            <a:srgbClr val="E2C8B5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0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40480" y="378561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MDA Blueprint &amp; Cross-Plant Rollout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Sequencing Logic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hybrid approach? A system-type approach ignores construction sequencing. A section-only approach misses economies of scale. The hybrid model balances both.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64208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64208"/>
            <a:ext cx="2651760" cy="475488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737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CRITERION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67004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Criticality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218688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High-value, safety-critical, and audit-required systems connect first to maximise early value and compliance.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54680" y="1664208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664208"/>
            <a:ext cx="2651760" cy="475488"/>
          </a:xfrm>
          <a:prstGeom prst="rect">
            <a:avLst/>
          </a:prstGeom>
          <a:solidFill>
            <a:srgbClr val="AF2C20"/>
          </a:solidFill>
          <a:ln/>
        </p:spPr>
      </p:sp>
      <p:sp>
        <p:nvSpPr>
          <p:cNvPr id="14" name="Text 12"/>
          <p:cNvSpPr/>
          <p:nvPr/>
        </p:nvSpPr>
        <p:spPr>
          <a:xfrm>
            <a:off x="3154680" y="1737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CRITERION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64408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91840" y="267004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Section Readiness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91840" y="3218688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in completed plant sections are connected first to avoid rework and access conflicts.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89320" y="1664208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89320" y="1664208"/>
            <a:ext cx="2651760" cy="475488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20" name="Text 18"/>
          <p:cNvSpPr/>
          <p:nvPr/>
        </p:nvSpPr>
        <p:spPr>
          <a:xfrm>
            <a:off x="5989320" y="1737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CRITERION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99048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126480" y="267004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Type Clustering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26480" y="3218688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sharing the same protocol (e.g. OPC-UA) are bundled together to reuse connectors and cut integration costs.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PRIORITISATION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Categorisation of 100 Systems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503920" cy="1170432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024128"/>
            <a:ext cx="91440" cy="1170432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225296"/>
            <a:ext cx="1005840" cy="457200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22529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45920" y="1097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0" y="13716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 lathes · Lifting systems · Brake test rigs · Washing plants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45920" y="17373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Safety-critical; generate audit-required data; highest downtime cost impact.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5120" y="1161288"/>
            <a:ext cx="1965960" cy="896112"/>
          </a:xfrm>
          <a:prstGeom prst="rect">
            <a:avLst/>
          </a:prstGeom>
          <a:solidFill>
            <a:srgbClr val="D73729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118872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~15–20 systems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75120" y="15727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Pilot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322576"/>
            <a:ext cx="8503920" cy="1170432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" y="2322576"/>
            <a:ext cx="91440" cy="1170432"/>
          </a:xfrm>
          <a:prstGeom prst="rect">
            <a:avLst/>
          </a:prstGeom>
          <a:solidFill>
            <a:srgbClr val="AF2C20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2523744"/>
            <a:ext cx="1005840" cy="457200"/>
          </a:xfrm>
          <a:prstGeom prst="rect">
            <a:avLst/>
          </a:prstGeom>
          <a:solidFill>
            <a:srgbClr val="AF2C20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52374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45920" y="23957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45920" y="26700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 machines · Welding stations · Compressors · Conveyor systems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45920" y="30358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energy &amp; material consumption; significant OEE impact.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75120" y="2459736"/>
            <a:ext cx="1965960" cy="896112"/>
          </a:xfrm>
          <a:prstGeom prst="rect">
            <a:avLst/>
          </a:prstGeom>
          <a:solidFill>
            <a:srgbClr val="AF2C20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248716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systems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75120" y="287121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Scale-Up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621024"/>
            <a:ext cx="8503920" cy="1170432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3621024"/>
            <a:ext cx="91440" cy="1170432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27" name="Shape 25"/>
          <p:cNvSpPr/>
          <p:nvPr/>
        </p:nvSpPr>
        <p:spPr>
          <a:xfrm>
            <a:off x="502920" y="3822192"/>
            <a:ext cx="1005840" cy="457200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82219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645920" y="36941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645920" y="396849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workshop equipment · Measurement tools · Auxiliary systems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645920" y="433425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for completeness; lower operational criticality.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675120" y="3758184"/>
            <a:ext cx="1965960" cy="896112"/>
          </a:xfrm>
          <a:prstGeom prst="rect">
            <a:avLst/>
          </a:prstGeom>
          <a:solidFill>
            <a:srgbClr val="D73729">
              <a:alpha val="1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675120" y="3785616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~30–35 systems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675120" y="4169664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/ Phase 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GANTT CHART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Tier-by-Tier Schedule: Q1 2026 → June 2027 SoP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993392" y="1371600"/>
            <a:ext cx="386080" cy="3547872"/>
          </a:xfrm>
          <a:prstGeom prst="rect">
            <a:avLst/>
          </a:prstGeom>
          <a:solidFill>
            <a:srgbClr val="FFF8F0"/>
          </a:solidFill>
          <a:ln w="12700">
            <a:solidFill>
              <a:srgbClr val="FFF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65552" y="1371600"/>
            <a:ext cx="386080" cy="3547872"/>
          </a:xfrm>
          <a:prstGeom prst="rect">
            <a:avLst/>
          </a:prstGeom>
          <a:solidFill>
            <a:srgbClr val="FFF8F0"/>
          </a:solidFill>
          <a:ln w="12700">
            <a:solidFill>
              <a:srgbClr val="FFF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37712" y="1371600"/>
            <a:ext cx="386080" cy="3547872"/>
          </a:xfrm>
          <a:prstGeom prst="rect">
            <a:avLst/>
          </a:prstGeom>
          <a:solidFill>
            <a:srgbClr val="FFF8F0"/>
          </a:solidFill>
          <a:ln w="12700">
            <a:solidFill>
              <a:srgbClr val="FFF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09872" y="1371600"/>
            <a:ext cx="386080" cy="3547872"/>
          </a:xfrm>
          <a:prstGeom prst="rect">
            <a:avLst/>
          </a:prstGeom>
          <a:solidFill>
            <a:srgbClr val="FFF8F0"/>
          </a:solidFill>
          <a:ln w="12700">
            <a:solidFill>
              <a:srgbClr val="FFF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82032" y="1371600"/>
            <a:ext cx="386080" cy="3547872"/>
          </a:xfrm>
          <a:prstGeom prst="rect">
            <a:avLst/>
          </a:prstGeom>
          <a:solidFill>
            <a:srgbClr val="FFF8F0"/>
          </a:solidFill>
          <a:ln w="12700">
            <a:solidFill>
              <a:srgbClr val="FFF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4192" y="1371600"/>
            <a:ext cx="386080" cy="3547872"/>
          </a:xfrm>
          <a:prstGeom prst="rect">
            <a:avLst/>
          </a:prstGeom>
          <a:solidFill>
            <a:srgbClr val="FFF8F0"/>
          </a:solidFill>
          <a:ln w="12700">
            <a:solidFill>
              <a:srgbClr val="FFF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6352" y="1371600"/>
            <a:ext cx="386080" cy="3547872"/>
          </a:xfrm>
          <a:prstGeom prst="rect">
            <a:avLst/>
          </a:prstGeom>
          <a:solidFill>
            <a:srgbClr val="FFF8F0"/>
          </a:solidFill>
          <a:ln w="12700">
            <a:solidFill>
              <a:srgbClr val="FFF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98512" y="1371600"/>
            <a:ext cx="386080" cy="3547872"/>
          </a:xfrm>
          <a:prstGeom prst="rect">
            <a:avLst/>
          </a:prstGeom>
          <a:solidFill>
            <a:srgbClr val="FFF8F0"/>
          </a:solidFill>
          <a:ln w="12700">
            <a:solidFill>
              <a:srgbClr val="FFF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70672" y="1371600"/>
            <a:ext cx="386080" cy="3547872"/>
          </a:xfrm>
          <a:prstGeom prst="rect">
            <a:avLst/>
          </a:prstGeom>
          <a:solidFill>
            <a:srgbClr val="FFF8F0"/>
          </a:solidFill>
          <a:ln w="12700">
            <a:solidFill>
              <a:srgbClr val="FFF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93392" y="1371600"/>
            <a:ext cx="0" cy="3547872"/>
          </a:xfrm>
          <a:prstGeom prst="line">
            <a:avLst/>
          </a:prstGeom>
          <a:noFill/>
          <a:ln w="5080">
            <a:solidFill>
              <a:srgbClr val="E2C8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9472" y="1371600"/>
            <a:ext cx="0" cy="3547872"/>
          </a:xfrm>
          <a:prstGeom prst="line">
            <a:avLst/>
          </a:prstGeom>
          <a:noFill/>
          <a:ln w="5080">
            <a:solidFill>
              <a:srgbClr val="E2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65552" y="1371600"/>
            <a:ext cx="0" cy="3547872"/>
          </a:xfrm>
          <a:prstGeom prst="line">
            <a:avLst/>
          </a:prstGeom>
          <a:noFill/>
          <a:ln w="5080">
            <a:solidFill>
              <a:srgbClr val="E2C8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51632" y="1371600"/>
            <a:ext cx="0" cy="3547872"/>
          </a:xfrm>
          <a:prstGeom prst="line">
            <a:avLst/>
          </a:prstGeom>
          <a:noFill/>
          <a:ln w="5080">
            <a:solidFill>
              <a:srgbClr val="E2C8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37712" y="1371600"/>
            <a:ext cx="0" cy="3547872"/>
          </a:xfrm>
          <a:prstGeom prst="line">
            <a:avLst/>
          </a:prstGeom>
          <a:noFill/>
          <a:ln w="5080">
            <a:solidFill>
              <a:srgbClr val="E2C8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23792" y="1371600"/>
            <a:ext cx="0" cy="3547872"/>
          </a:xfrm>
          <a:prstGeom prst="line">
            <a:avLst/>
          </a:prstGeom>
          <a:noFill/>
          <a:ln w="5080">
            <a:solidFill>
              <a:srgbClr val="E2C8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09872" y="1371600"/>
            <a:ext cx="0" cy="3547872"/>
          </a:xfrm>
          <a:prstGeom prst="line">
            <a:avLst/>
          </a:prstGeom>
          <a:noFill/>
          <a:ln w="5080">
            <a:solidFill>
              <a:srgbClr val="E2C8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95952" y="1371600"/>
            <a:ext cx="0" cy="3547872"/>
          </a:xfrm>
          <a:prstGeom prst="line">
            <a:avLst/>
          </a:prstGeom>
          <a:noFill/>
          <a:ln w="5080">
            <a:solidFill>
              <a:srgbClr val="E2C8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82032" y="1371600"/>
            <a:ext cx="0" cy="3547872"/>
          </a:xfrm>
          <a:prstGeom prst="line">
            <a:avLst/>
          </a:prstGeom>
          <a:noFill/>
          <a:ln w="5080">
            <a:solidFill>
              <a:srgbClr val="E2C8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68112" y="1371600"/>
            <a:ext cx="0" cy="3547872"/>
          </a:xfrm>
          <a:prstGeom prst="line">
            <a:avLst/>
          </a:prstGeom>
          <a:noFill/>
          <a:ln w="5080">
            <a:solidFill>
              <a:srgbClr val="E2C8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54192" y="1371600"/>
            <a:ext cx="0" cy="3547872"/>
          </a:xfrm>
          <a:prstGeom prst="line">
            <a:avLst/>
          </a:prstGeom>
          <a:noFill/>
          <a:ln w="5080">
            <a:solidFill>
              <a:srgbClr val="E2C8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40272" y="1371600"/>
            <a:ext cx="0" cy="3547872"/>
          </a:xfrm>
          <a:prstGeom prst="line">
            <a:avLst/>
          </a:prstGeom>
          <a:noFill/>
          <a:ln w="5080">
            <a:solidFill>
              <a:srgbClr val="E2C8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26352" y="1371600"/>
            <a:ext cx="0" cy="3547872"/>
          </a:xfrm>
          <a:prstGeom prst="line">
            <a:avLst/>
          </a:prstGeom>
          <a:noFill/>
          <a:ln w="5080">
            <a:solidFill>
              <a:srgbClr val="E2C8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12432" y="1371600"/>
            <a:ext cx="0" cy="3547872"/>
          </a:xfrm>
          <a:prstGeom prst="line">
            <a:avLst/>
          </a:prstGeom>
          <a:noFill/>
          <a:ln w="5080">
            <a:solidFill>
              <a:srgbClr val="E2C8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98512" y="1371600"/>
            <a:ext cx="0" cy="3547872"/>
          </a:xfrm>
          <a:prstGeom prst="line">
            <a:avLst/>
          </a:prstGeom>
          <a:noFill/>
          <a:ln w="5080">
            <a:solidFill>
              <a:srgbClr val="E2C8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84592" y="1371600"/>
            <a:ext cx="0" cy="3547872"/>
          </a:xfrm>
          <a:prstGeom prst="line">
            <a:avLst/>
          </a:prstGeom>
          <a:noFill/>
          <a:ln w="5080">
            <a:solidFill>
              <a:srgbClr val="E2C8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70672" y="1371600"/>
            <a:ext cx="0" cy="3547872"/>
          </a:xfrm>
          <a:prstGeom prst="line">
            <a:avLst/>
          </a:prstGeom>
          <a:noFill/>
          <a:ln w="5080">
            <a:solidFill>
              <a:srgbClr val="E2C8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56752" y="1371600"/>
            <a:ext cx="0" cy="3547872"/>
          </a:xfrm>
          <a:prstGeom prst="line">
            <a:avLst/>
          </a:prstGeom>
          <a:noFill/>
          <a:ln w="5080">
            <a:solidFill>
              <a:srgbClr val="E2C8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42832" y="1371600"/>
            <a:ext cx="0" cy="3547872"/>
          </a:xfrm>
          <a:prstGeom prst="line">
            <a:avLst/>
          </a:prstGeom>
          <a:noFill/>
          <a:ln w="5080">
            <a:solidFill>
              <a:srgbClr val="E2C8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93392" y="932688"/>
            <a:ext cx="38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993392" y="1170432"/>
            <a:ext cx="154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379472" y="932688"/>
            <a:ext cx="38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765552" y="932688"/>
            <a:ext cx="38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151632" y="932688"/>
            <a:ext cx="38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537712" y="932688"/>
            <a:ext cx="38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923792" y="932688"/>
            <a:ext cx="38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309872" y="932688"/>
            <a:ext cx="38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695952" y="932688"/>
            <a:ext cx="38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82032" y="932688"/>
            <a:ext cx="38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468112" y="932688"/>
            <a:ext cx="38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854192" y="932688"/>
            <a:ext cx="38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240272" y="932688"/>
            <a:ext cx="38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626352" y="932688"/>
            <a:ext cx="38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626352" y="1170432"/>
            <a:ext cx="154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012432" y="932688"/>
            <a:ext cx="38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398512" y="932688"/>
            <a:ext cx="38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784592" y="932688"/>
            <a:ext cx="38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170672" y="932688"/>
            <a:ext cx="38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556752" y="932688"/>
            <a:ext cx="38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8556752" y="1353312"/>
            <a:ext cx="0" cy="3547872"/>
          </a:xfrm>
          <a:prstGeom prst="line">
            <a:avLst/>
          </a:prstGeom>
          <a:noFill/>
          <a:ln w="20320">
            <a:solidFill>
              <a:srgbClr val="D73729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8328152" y="1353312"/>
            <a:ext cx="457200" cy="201168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55" name="Text 53"/>
          <p:cNvSpPr/>
          <p:nvPr/>
        </p:nvSpPr>
        <p:spPr>
          <a:xfrm>
            <a:off x="8328152" y="13533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146304" y="1243584"/>
            <a:ext cx="8842248" cy="146304"/>
          </a:xfrm>
          <a:prstGeom prst="rect">
            <a:avLst/>
          </a:prstGeom>
          <a:solidFill>
            <a:srgbClr val="E2C8B5">
              <a:alpha val="22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182880" y="1243584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OVERVIEW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1993392" y="1389888"/>
            <a:ext cx="2316480" cy="251460"/>
          </a:xfrm>
          <a:prstGeom prst="rect">
            <a:avLst/>
          </a:prstGeom>
          <a:solidFill>
            <a:srgbClr val="AABCB6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2039112" y="1389888"/>
            <a:ext cx="226161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0: Foundation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309872" y="1389888"/>
            <a:ext cx="2316480" cy="251460"/>
          </a:xfrm>
          <a:prstGeom prst="rect">
            <a:avLst/>
          </a:prstGeom>
          <a:solidFill>
            <a:srgbClr val="D73729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4355592" y="1389888"/>
            <a:ext cx="226161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1: Pilot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626352" y="1389888"/>
            <a:ext cx="1930400" cy="251460"/>
          </a:xfrm>
          <a:prstGeom prst="rect">
            <a:avLst/>
          </a:prstGeom>
          <a:solidFill>
            <a:srgbClr val="D73729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6672072" y="1389888"/>
            <a:ext cx="187553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2: Scale-Up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8556752" y="1389888"/>
            <a:ext cx="386080" cy="251460"/>
          </a:xfrm>
          <a:prstGeom prst="rect">
            <a:avLst/>
          </a:prstGeom>
          <a:solidFill>
            <a:srgbClr val="D73729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146304" y="1560881"/>
            <a:ext cx="8842248" cy="146304"/>
          </a:xfrm>
          <a:prstGeom prst="rect">
            <a:avLst/>
          </a:prstGeom>
          <a:solidFill>
            <a:srgbClr val="D73729">
              <a:alpha val="22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82880" y="1560881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SAFETY-CRITICAL  (~15–20 systems)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46304" y="1707185"/>
            <a:ext cx="54864" cy="251460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68" name="Text 66"/>
          <p:cNvSpPr/>
          <p:nvPr/>
        </p:nvSpPr>
        <p:spPr>
          <a:xfrm>
            <a:off x="246888" y="1707185"/>
            <a:ext cx="1682496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 Lathes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246888" y="1837944"/>
            <a:ext cx="1682496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units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4309872" y="1707185"/>
            <a:ext cx="1158240" cy="251460"/>
          </a:xfrm>
          <a:prstGeom prst="rect">
            <a:avLst/>
          </a:prstGeom>
          <a:solidFill>
            <a:srgbClr val="D73729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4355592" y="1707185"/>
            <a:ext cx="110337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468112" y="1707185"/>
            <a:ext cx="1158240" cy="251460"/>
          </a:xfrm>
          <a:prstGeom prst="rect">
            <a:avLst/>
          </a:prstGeom>
          <a:solidFill>
            <a:srgbClr val="FCE2CF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5513832" y="1707185"/>
            <a:ext cx="110337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146304" y="2024482"/>
            <a:ext cx="54864" cy="251460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75" name="Text 73"/>
          <p:cNvSpPr/>
          <p:nvPr/>
        </p:nvSpPr>
        <p:spPr>
          <a:xfrm>
            <a:off x="246888" y="2024482"/>
            <a:ext cx="1682496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Lifting Systems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246888" y="2155241"/>
            <a:ext cx="1682496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units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4309872" y="2024482"/>
            <a:ext cx="1544320" cy="251460"/>
          </a:xfrm>
          <a:prstGeom prst="rect">
            <a:avLst/>
          </a:prstGeom>
          <a:solidFill>
            <a:srgbClr val="D73729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4355592" y="2024482"/>
            <a:ext cx="148945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5854192" y="2024482"/>
            <a:ext cx="772160" cy="251460"/>
          </a:xfrm>
          <a:prstGeom prst="rect">
            <a:avLst/>
          </a:prstGeom>
          <a:solidFill>
            <a:srgbClr val="FCE2CF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5899912" y="2024482"/>
            <a:ext cx="71729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146304" y="2341778"/>
            <a:ext cx="54864" cy="251460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82" name="Text 80"/>
          <p:cNvSpPr/>
          <p:nvPr/>
        </p:nvSpPr>
        <p:spPr>
          <a:xfrm>
            <a:off x="246888" y="2341778"/>
            <a:ext cx="1682496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Test Rigs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246888" y="2472538"/>
            <a:ext cx="1682496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units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4695952" y="2341778"/>
            <a:ext cx="1158240" cy="251460"/>
          </a:xfrm>
          <a:prstGeom prst="rect">
            <a:avLst/>
          </a:prstGeom>
          <a:solidFill>
            <a:srgbClr val="D73729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85" name="Text 83"/>
          <p:cNvSpPr/>
          <p:nvPr/>
        </p:nvSpPr>
        <p:spPr>
          <a:xfrm>
            <a:off x="4741672" y="2341778"/>
            <a:ext cx="110337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5854192" y="2341778"/>
            <a:ext cx="772160" cy="251460"/>
          </a:xfrm>
          <a:prstGeom prst="rect">
            <a:avLst/>
          </a:prstGeom>
          <a:solidFill>
            <a:srgbClr val="FCE2CF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87" name="Text 85"/>
          <p:cNvSpPr/>
          <p:nvPr/>
        </p:nvSpPr>
        <p:spPr>
          <a:xfrm>
            <a:off x="5899912" y="2341778"/>
            <a:ext cx="71729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146304" y="2659075"/>
            <a:ext cx="54864" cy="251460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89" name="Text 87"/>
          <p:cNvSpPr/>
          <p:nvPr/>
        </p:nvSpPr>
        <p:spPr>
          <a:xfrm>
            <a:off x="246888" y="2659075"/>
            <a:ext cx="1682496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 Plants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246888" y="2789834"/>
            <a:ext cx="1682496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units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4695952" y="2659075"/>
            <a:ext cx="1544320" cy="251460"/>
          </a:xfrm>
          <a:prstGeom prst="rect">
            <a:avLst/>
          </a:prstGeom>
          <a:solidFill>
            <a:srgbClr val="D73729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4741672" y="2659075"/>
            <a:ext cx="148945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6240272" y="2659075"/>
            <a:ext cx="386080" cy="251460"/>
          </a:xfrm>
          <a:prstGeom prst="rect">
            <a:avLst/>
          </a:prstGeom>
          <a:solidFill>
            <a:srgbClr val="FCE2CF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146304" y="2830068"/>
            <a:ext cx="8842248" cy="146304"/>
          </a:xfrm>
          <a:prstGeom prst="rect">
            <a:avLst/>
          </a:prstGeom>
          <a:solidFill>
            <a:srgbClr val="AF2C20">
              <a:alpha val="22000"/>
            </a:srgbClr>
          </a:solidFill>
          <a:ln/>
        </p:spPr>
      </p:sp>
      <p:sp>
        <p:nvSpPr>
          <p:cNvPr id="95" name="Text 93"/>
          <p:cNvSpPr/>
          <p:nvPr/>
        </p:nvSpPr>
        <p:spPr>
          <a:xfrm>
            <a:off x="182880" y="2830068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OEE IMPACT  (~50 systems)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146304" y="2976372"/>
            <a:ext cx="54864" cy="251460"/>
          </a:xfrm>
          <a:prstGeom prst="rect">
            <a:avLst/>
          </a:prstGeom>
          <a:solidFill>
            <a:srgbClr val="AF2C20"/>
          </a:solidFill>
          <a:ln/>
        </p:spPr>
      </p:sp>
      <p:sp>
        <p:nvSpPr>
          <p:cNvPr id="97" name="Text 95"/>
          <p:cNvSpPr/>
          <p:nvPr/>
        </p:nvSpPr>
        <p:spPr>
          <a:xfrm>
            <a:off x="246888" y="2976372"/>
            <a:ext cx="1682496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 Machines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246888" y="3107131"/>
            <a:ext cx="1682496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units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6626352" y="2976372"/>
            <a:ext cx="1158240" cy="251460"/>
          </a:xfrm>
          <a:prstGeom prst="rect">
            <a:avLst/>
          </a:prstGeom>
          <a:solidFill>
            <a:srgbClr val="AF2C20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100" name="Text 98"/>
          <p:cNvSpPr/>
          <p:nvPr/>
        </p:nvSpPr>
        <p:spPr>
          <a:xfrm>
            <a:off x="6672072" y="2976372"/>
            <a:ext cx="110337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7784592" y="2976372"/>
            <a:ext cx="772160" cy="251460"/>
          </a:xfrm>
          <a:prstGeom prst="rect">
            <a:avLst/>
          </a:prstGeom>
          <a:solidFill>
            <a:srgbClr val="AF2C20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102" name="Text 100"/>
          <p:cNvSpPr/>
          <p:nvPr/>
        </p:nvSpPr>
        <p:spPr>
          <a:xfrm>
            <a:off x="7830312" y="2976372"/>
            <a:ext cx="71729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146304" y="3293669"/>
            <a:ext cx="54864" cy="251460"/>
          </a:xfrm>
          <a:prstGeom prst="rect">
            <a:avLst/>
          </a:prstGeom>
          <a:solidFill>
            <a:srgbClr val="AF2C20"/>
          </a:solidFill>
          <a:ln/>
        </p:spPr>
      </p:sp>
      <p:sp>
        <p:nvSpPr>
          <p:cNvPr id="104" name="Text 102"/>
          <p:cNvSpPr/>
          <p:nvPr/>
        </p:nvSpPr>
        <p:spPr>
          <a:xfrm>
            <a:off x="246888" y="3293669"/>
            <a:ext cx="1682496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Welding Stations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246888" y="3424428"/>
            <a:ext cx="1682496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units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6626352" y="3293669"/>
            <a:ext cx="1544320" cy="251460"/>
          </a:xfrm>
          <a:prstGeom prst="rect">
            <a:avLst/>
          </a:prstGeom>
          <a:solidFill>
            <a:srgbClr val="AF2C20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107" name="Text 105"/>
          <p:cNvSpPr/>
          <p:nvPr/>
        </p:nvSpPr>
        <p:spPr>
          <a:xfrm>
            <a:off x="6672072" y="3293669"/>
            <a:ext cx="148945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8170672" y="3293669"/>
            <a:ext cx="386080" cy="251460"/>
          </a:xfrm>
          <a:prstGeom prst="rect">
            <a:avLst/>
          </a:prstGeom>
          <a:solidFill>
            <a:srgbClr val="AF2C20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109" name="Shape 107"/>
          <p:cNvSpPr/>
          <p:nvPr/>
        </p:nvSpPr>
        <p:spPr>
          <a:xfrm>
            <a:off x="146304" y="3610966"/>
            <a:ext cx="54864" cy="251460"/>
          </a:xfrm>
          <a:prstGeom prst="rect">
            <a:avLst/>
          </a:prstGeom>
          <a:solidFill>
            <a:srgbClr val="AF2C20"/>
          </a:solidFill>
          <a:ln/>
        </p:spPr>
      </p:sp>
      <p:sp>
        <p:nvSpPr>
          <p:cNvPr id="110" name="Text 108"/>
          <p:cNvSpPr/>
          <p:nvPr/>
        </p:nvSpPr>
        <p:spPr>
          <a:xfrm>
            <a:off x="246888" y="3610966"/>
            <a:ext cx="1682496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Compressors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246888" y="3741725"/>
            <a:ext cx="1682496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units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7012432" y="3610966"/>
            <a:ext cx="1158240" cy="251460"/>
          </a:xfrm>
          <a:prstGeom prst="rect">
            <a:avLst/>
          </a:prstGeom>
          <a:solidFill>
            <a:srgbClr val="AF2C20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113" name="Text 111"/>
          <p:cNvSpPr/>
          <p:nvPr/>
        </p:nvSpPr>
        <p:spPr>
          <a:xfrm>
            <a:off x="7058152" y="3610966"/>
            <a:ext cx="110337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8170672" y="3610966"/>
            <a:ext cx="386080" cy="251460"/>
          </a:xfrm>
          <a:prstGeom prst="rect">
            <a:avLst/>
          </a:prstGeom>
          <a:solidFill>
            <a:srgbClr val="AF2C20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115" name="Shape 113"/>
          <p:cNvSpPr/>
          <p:nvPr/>
        </p:nvSpPr>
        <p:spPr>
          <a:xfrm>
            <a:off x="146304" y="3928262"/>
            <a:ext cx="54864" cy="251460"/>
          </a:xfrm>
          <a:prstGeom prst="rect">
            <a:avLst/>
          </a:prstGeom>
          <a:solidFill>
            <a:srgbClr val="AF2C20"/>
          </a:solidFill>
          <a:ln/>
        </p:spPr>
      </p:sp>
      <p:sp>
        <p:nvSpPr>
          <p:cNvPr id="116" name="Text 114"/>
          <p:cNvSpPr/>
          <p:nvPr/>
        </p:nvSpPr>
        <p:spPr>
          <a:xfrm>
            <a:off x="246888" y="3928262"/>
            <a:ext cx="1682496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Conveyor Systems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246888" y="4059022"/>
            <a:ext cx="1682496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 units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7012432" y="3928262"/>
            <a:ext cx="1544320" cy="251460"/>
          </a:xfrm>
          <a:prstGeom prst="rect">
            <a:avLst/>
          </a:prstGeom>
          <a:solidFill>
            <a:srgbClr val="AF2C20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119" name="Text 117"/>
          <p:cNvSpPr/>
          <p:nvPr/>
        </p:nvSpPr>
        <p:spPr>
          <a:xfrm>
            <a:off x="7058152" y="3928262"/>
            <a:ext cx="148945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8556752" y="3928262"/>
            <a:ext cx="386080" cy="251460"/>
          </a:xfrm>
          <a:prstGeom prst="rect">
            <a:avLst/>
          </a:prstGeom>
          <a:solidFill>
            <a:srgbClr val="AF2C20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121" name="Shape 119"/>
          <p:cNvSpPr/>
          <p:nvPr/>
        </p:nvSpPr>
        <p:spPr>
          <a:xfrm>
            <a:off x="146304" y="4099255"/>
            <a:ext cx="8842248" cy="146304"/>
          </a:xfrm>
          <a:prstGeom prst="rect">
            <a:avLst/>
          </a:prstGeom>
          <a:solidFill>
            <a:srgbClr val="D73729">
              <a:alpha val="22000"/>
            </a:srgbClr>
          </a:solidFill>
          <a:ln/>
        </p:spPr>
      </p:sp>
      <p:sp>
        <p:nvSpPr>
          <p:cNvPr id="122" name="Text 120"/>
          <p:cNvSpPr/>
          <p:nvPr/>
        </p:nvSpPr>
        <p:spPr>
          <a:xfrm>
            <a:off x="182880" y="4099255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STANDARD  (~30–35 systems)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146304" y="4245559"/>
            <a:ext cx="54864" cy="251460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124" name="Text 122"/>
          <p:cNvSpPr/>
          <p:nvPr/>
        </p:nvSpPr>
        <p:spPr>
          <a:xfrm>
            <a:off x="246888" y="4245559"/>
            <a:ext cx="1682496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Equip.</a:t>
            </a:r>
            <a:endParaRPr lang="en-US" sz="900" dirty="0"/>
          </a:p>
        </p:txBody>
      </p:sp>
      <p:sp>
        <p:nvSpPr>
          <p:cNvPr id="125" name="Text 123"/>
          <p:cNvSpPr/>
          <p:nvPr/>
        </p:nvSpPr>
        <p:spPr>
          <a:xfrm>
            <a:off x="246888" y="4376318"/>
            <a:ext cx="1682496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units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>
            <a:off x="7398512" y="4245559"/>
            <a:ext cx="1158240" cy="251460"/>
          </a:xfrm>
          <a:prstGeom prst="rect">
            <a:avLst/>
          </a:prstGeom>
          <a:solidFill>
            <a:srgbClr val="D73729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127" name="Text 125"/>
          <p:cNvSpPr/>
          <p:nvPr/>
        </p:nvSpPr>
        <p:spPr>
          <a:xfrm>
            <a:off x="7444232" y="4245559"/>
            <a:ext cx="110337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8556752" y="4245559"/>
            <a:ext cx="386080" cy="251460"/>
          </a:xfrm>
          <a:prstGeom prst="rect">
            <a:avLst/>
          </a:prstGeom>
          <a:solidFill>
            <a:srgbClr val="BD3022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129" name="Shape 127"/>
          <p:cNvSpPr/>
          <p:nvPr/>
        </p:nvSpPr>
        <p:spPr>
          <a:xfrm>
            <a:off x="146304" y="4562856"/>
            <a:ext cx="54864" cy="251460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130" name="Text 128"/>
          <p:cNvSpPr/>
          <p:nvPr/>
        </p:nvSpPr>
        <p:spPr>
          <a:xfrm>
            <a:off x="246888" y="4562856"/>
            <a:ext cx="1682496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Aux. Systems</a:t>
            </a:r>
            <a:endParaRPr lang="en-US" sz="900" dirty="0"/>
          </a:p>
        </p:txBody>
      </p:sp>
      <p:sp>
        <p:nvSpPr>
          <p:cNvPr id="131" name="Text 129"/>
          <p:cNvSpPr/>
          <p:nvPr/>
        </p:nvSpPr>
        <p:spPr>
          <a:xfrm>
            <a:off x="246888" y="4693615"/>
            <a:ext cx="1682496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units</a:t>
            </a:r>
            <a:endParaRPr lang="en-US" sz="700" dirty="0"/>
          </a:p>
        </p:txBody>
      </p:sp>
      <p:sp>
        <p:nvSpPr>
          <p:cNvPr id="132" name="Shape 130"/>
          <p:cNvSpPr/>
          <p:nvPr/>
        </p:nvSpPr>
        <p:spPr>
          <a:xfrm>
            <a:off x="7784592" y="4562856"/>
            <a:ext cx="772160" cy="251460"/>
          </a:xfrm>
          <a:prstGeom prst="rect">
            <a:avLst/>
          </a:prstGeom>
          <a:solidFill>
            <a:srgbClr val="D73729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133" name="Text 131"/>
          <p:cNvSpPr/>
          <p:nvPr/>
        </p:nvSpPr>
        <p:spPr>
          <a:xfrm>
            <a:off x="7830312" y="4562856"/>
            <a:ext cx="71729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8556752" y="4562856"/>
            <a:ext cx="386080" cy="251460"/>
          </a:xfrm>
          <a:prstGeom prst="rect">
            <a:avLst/>
          </a:prstGeom>
          <a:solidFill>
            <a:srgbClr val="BD3022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135" name="Shape 133"/>
          <p:cNvSpPr/>
          <p:nvPr/>
        </p:nvSpPr>
        <p:spPr>
          <a:xfrm>
            <a:off x="320040" y="4882896"/>
            <a:ext cx="182880" cy="118872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136" name="Text 134"/>
          <p:cNvSpPr/>
          <p:nvPr/>
        </p:nvSpPr>
        <p:spPr>
          <a:xfrm>
            <a:off x="548640" y="48280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Connect</a:t>
            </a:r>
            <a:endParaRPr lang="en-US" sz="800" dirty="0"/>
          </a:p>
        </p:txBody>
      </p:sp>
      <p:sp>
        <p:nvSpPr>
          <p:cNvPr id="137" name="Shape 135"/>
          <p:cNvSpPr/>
          <p:nvPr/>
        </p:nvSpPr>
        <p:spPr>
          <a:xfrm>
            <a:off x="1764792" y="4882896"/>
            <a:ext cx="182880" cy="118872"/>
          </a:xfrm>
          <a:prstGeom prst="rect">
            <a:avLst/>
          </a:prstGeom>
          <a:solidFill>
            <a:srgbClr val="FCE2CF"/>
          </a:solidFill>
          <a:ln/>
        </p:spPr>
      </p:sp>
      <p:sp>
        <p:nvSpPr>
          <p:cNvPr id="138" name="Text 136"/>
          <p:cNvSpPr/>
          <p:nvPr/>
        </p:nvSpPr>
        <p:spPr>
          <a:xfrm>
            <a:off x="1993392" y="48280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Live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3209544" y="4882896"/>
            <a:ext cx="182880" cy="118872"/>
          </a:xfrm>
          <a:prstGeom prst="rect">
            <a:avLst/>
          </a:prstGeom>
          <a:solidFill>
            <a:srgbClr val="AF2C20"/>
          </a:solidFill>
          <a:ln/>
        </p:spPr>
      </p:sp>
      <p:sp>
        <p:nvSpPr>
          <p:cNvPr id="140" name="Text 138"/>
          <p:cNvSpPr/>
          <p:nvPr/>
        </p:nvSpPr>
        <p:spPr>
          <a:xfrm>
            <a:off x="3438144" y="48280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Connect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4654296" y="4882896"/>
            <a:ext cx="182880" cy="118872"/>
          </a:xfrm>
          <a:prstGeom prst="rect">
            <a:avLst/>
          </a:prstGeom>
          <a:solidFill>
            <a:srgbClr val="AF2C20"/>
          </a:solidFill>
          <a:ln/>
        </p:spPr>
      </p:sp>
      <p:sp>
        <p:nvSpPr>
          <p:cNvPr id="142" name="Text 140"/>
          <p:cNvSpPr/>
          <p:nvPr/>
        </p:nvSpPr>
        <p:spPr>
          <a:xfrm>
            <a:off x="4882896" y="48280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Live</a:t>
            </a:r>
            <a:endParaRPr lang="en-US" sz="800" dirty="0"/>
          </a:p>
        </p:txBody>
      </p:sp>
      <p:sp>
        <p:nvSpPr>
          <p:cNvPr id="143" name="Shape 141"/>
          <p:cNvSpPr/>
          <p:nvPr/>
        </p:nvSpPr>
        <p:spPr>
          <a:xfrm>
            <a:off x="6099048" y="4882896"/>
            <a:ext cx="182880" cy="118872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144" name="Text 142"/>
          <p:cNvSpPr/>
          <p:nvPr/>
        </p:nvSpPr>
        <p:spPr>
          <a:xfrm>
            <a:off x="6327648" y="48280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Connect</a:t>
            </a:r>
            <a:endParaRPr lang="en-US" sz="800" dirty="0"/>
          </a:p>
        </p:txBody>
      </p:sp>
      <p:sp>
        <p:nvSpPr>
          <p:cNvPr id="145" name="Shape 143"/>
          <p:cNvSpPr/>
          <p:nvPr/>
        </p:nvSpPr>
        <p:spPr>
          <a:xfrm>
            <a:off x="7543800" y="4882896"/>
            <a:ext cx="182880" cy="118872"/>
          </a:xfrm>
          <a:prstGeom prst="rect">
            <a:avLst/>
          </a:prstGeom>
          <a:solidFill>
            <a:srgbClr val="BD3022"/>
          </a:solidFill>
          <a:ln/>
        </p:spPr>
      </p:sp>
      <p:sp>
        <p:nvSpPr>
          <p:cNvPr id="146" name="Text 144"/>
          <p:cNvSpPr/>
          <p:nvPr/>
        </p:nvSpPr>
        <p:spPr>
          <a:xfrm>
            <a:off x="7772400" y="48280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Live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FOUR-PHASE TIMELINE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to June 2027 SoP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8412480" cy="54864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1170432"/>
            <a:ext cx="201168" cy="201168"/>
          </a:xfrm>
          <a:prstGeom prst="ellipse">
            <a:avLst/>
          </a:prstGeom>
          <a:solidFill>
            <a:srgbClr val="AABCB6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481328"/>
            <a:ext cx="2029968" cy="315468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481328"/>
            <a:ext cx="2029968" cy="566928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508760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76479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" y="2084832"/>
            <a:ext cx="1810512" cy="256032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" y="208483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Q1–Q2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242316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MDA architecture &amp; data standards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" y="2825496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inventory &amp; interface analysis (100 systems)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" y="3227832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Council pre-alignment on data levels 1–4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" y="363016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contract framework established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4480560"/>
            <a:ext cx="2029968" cy="329184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17" name="Text 15"/>
          <p:cNvSpPr/>
          <p:nvPr/>
        </p:nvSpPr>
        <p:spPr>
          <a:xfrm>
            <a:off x="374904" y="4489704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 · Interface Catalogue · Risk Register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227832" y="1170432"/>
            <a:ext cx="201168" cy="201168"/>
          </a:xfrm>
          <a:prstGeom prst="ellipse">
            <a:avLst/>
          </a:prstGeom>
          <a:solidFill>
            <a:srgbClr val="D73729"/>
          </a:solidFill>
          <a:ln/>
        </p:spPr>
      </p:sp>
      <p:sp>
        <p:nvSpPr>
          <p:cNvPr id="19" name="Shape 17"/>
          <p:cNvSpPr/>
          <p:nvPr/>
        </p:nvSpPr>
        <p:spPr>
          <a:xfrm>
            <a:off x="2496312" y="1481328"/>
            <a:ext cx="2029968" cy="315468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496312" y="1481328"/>
            <a:ext cx="2029968" cy="566928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21" name="Text 19"/>
          <p:cNvSpPr/>
          <p:nvPr/>
        </p:nvSpPr>
        <p:spPr>
          <a:xfrm>
            <a:off x="2496312" y="1508760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96312" y="176479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606040" y="2084832"/>
            <a:ext cx="1810512" cy="256032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24" name="Text 22"/>
          <p:cNvSpPr/>
          <p:nvPr/>
        </p:nvSpPr>
        <p:spPr>
          <a:xfrm>
            <a:off x="2606040" y="208483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Q3–Q4 2026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06040" y="242316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~15–20 Tier 1 systems (wheel lathes, test rigs)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06040" y="2825496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MDA Level 1: automated data collection live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06040" y="3227832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 baseline measurements established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06040" y="363016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v1 drafted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96312" y="4480560"/>
            <a:ext cx="2029968" cy="329184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0" name="Text 28"/>
          <p:cNvSpPr/>
          <p:nvPr/>
        </p:nvSpPr>
        <p:spPr>
          <a:xfrm>
            <a:off x="2551176" y="4489704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Middleware · OPC-UA Adapters · Grafana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404104" y="1170432"/>
            <a:ext cx="201168" cy="201168"/>
          </a:xfrm>
          <a:prstGeom prst="ellipse">
            <a:avLst/>
          </a:prstGeom>
          <a:solidFill>
            <a:srgbClr val="D73729"/>
          </a:solidFill>
          <a:ln/>
        </p:spPr>
      </p:sp>
      <p:sp>
        <p:nvSpPr>
          <p:cNvPr id="32" name="Shape 30"/>
          <p:cNvSpPr/>
          <p:nvPr/>
        </p:nvSpPr>
        <p:spPr>
          <a:xfrm>
            <a:off x="4672584" y="1481328"/>
            <a:ext cx="2029968" cy="315468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672584" y="1481328"/>
            <a:ext cx="2029968" cy="566928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34" name="Text 32"/>
          <p:cNvSpPr/>
          <p:nvPr/>
        </p:nvSpPr>
        <p:spPr>
          <a:xfrm>
            <a:off x="4672584" y="1508760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72584" y="176479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782312" y="2084832"/>
            <a:ext cx="1810512" cy="256032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7" name="Text 35"/>
          <p:cNvSpPr/>
          <p:nvPr/>
        </p:nvSpPr>
        <p:spPr>
          <a:xfrm>
            <a:off x="4782312" y="208483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Q1–Q2 2027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82312" y="242316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remaining ~80 systems by building section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82312" y="2825496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MDA Level 2: real-time transparency activated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82312" y="3227832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 — SAP PM, MES streams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82312" y="363016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Council sign-off on data usage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72584" y="4480560"/>
            <a:ext cx="2029968" cy="329184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43" name="Text 41"/>
          <p:cNvSpPr/>
          <p:nvPr/>
        </p:nvSpPr>
        <p:spPr>
          <a:xfrm>
            <a:off x="4727448" y="4489704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· MES/SAP-PM Connectors · Test Protocols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580376" y="1170432"/>
            <a:ext cx="201168" cy="201168"/>
          </a:xfrm>
          <a:prstGeom prst="ellipse">
            <a:avLst/>
          </a:prstGeom>
          <a:solidFill>
            <a:srgbClr val="D73729"/>
          </a:solidFill>
          <a:ln/>
        </p:spPr>
      </p:sp>
      <p:sp>
        <p:nvSpPr>
          <p:cNvPr id="45" name="Shape 43"/>
          <p:cNvSpPr/>
          <p:nvPr/>
        </p:nvSpPr>
        <p:spPr>
          <a:xfrm>
            <a:off x="6848856" y="1481328"/>
            <a:ext cx="2029968" cy="315468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848856" y="1481328"/>
            <a:ext cx="2029968" cy="566928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47" name="Text 45"/>
          <p:cNvSpPr/>
          <p:nvPr/>
        </p:nvSpPr>
        <p:spPr>
          <a:xfrm>
            <a:off x="6848856" y="1508760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848856" y="176479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Ready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958584" y="2084832"/>
            <a:ext cx="1810512" cy="256032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50" name="Text 48"/>
          <p:cNvSpPr/>
          <p:nvPr/>
        </p:nvSpPr>
        <p:spPr>
          <a:xfrm>
            <a:off x="6958584" y="208483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May–Jun 2027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958584" y="242316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acceptance testing — all 100 systems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958584" y="2825496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OEE dashboard for public presentation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958584" y="3227832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training &amp; operational handover to DB FZI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958584" y="363016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v2 — cross-plant guide — published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848856" y="4480560"/>
            <a:ext cx="2029968" cy="329184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56" name="Text 54"/>
          <p:cNvSpPr/>
          <p:nvPr/>
        </p:nvSpPr>
        <p:spPr>
          <a:xfrm>
            <a:off x="6903720" y="4489704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 · Acceptance Suite · Lessons Learned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20040" y="486460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4–6 week buffer embedded at each phase transition to absorb construction or vendor delays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TOOLS &amp; METHODS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&amp; Technical Infrastructure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4114800" cy="384048"/>
          </a:xfrm>
          <a:prstGeom prst="rect">
            <a:avLst/>
          </a:prstGeom>
          <a:solidFill>
            <a:srgbClr val="E2C8B5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875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987552"/>
            <a:ext cx="4114800" cy="384048"/>
          </a:xfrm>
          <a:prstGeom prst="rect">
            <a:avLst/>
          </a:prstGeom>
          <a:solidFill>
            <a:srgbClr val="E2C8B5"/>
          </a:solidFill>
          <a:ln/>
        </p:spPr>
      </p:sp>
      <p:sp>
        <p:nvSpPr>
          <p:cNvPr id="8" name="Text 6"/>
          <p:cNvSpPr/>
          <p:nvPr/>
        </p:nvSpPr>
        <p:spPr>
          <a:xfrm>
            <a:off x="4709160" y="9875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INFRASTRUCTURE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444752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2B2E3C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44752"/>
            <a:ext cx="64008" cy="804672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14996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Project / Jira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" y="179222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project plan tracking 100 system connections across all phases, with dependencies mapped to building section access dates.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313432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2B2E3C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313432"/>
            <a:ext cx="64008" cy="804672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" y="23682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 Matrix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" y="266090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responsibilities between DB FZI (requirements), DB Systel (IT delivery), and vendors (system interfaces).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182112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2B2E3C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182112"/>
            <a:ext cx="64008" cy="804672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" y="32369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" y="352958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from Phase 0, reviewed bi-weekly, escalated to programme level if red-rated.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4050792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2B2E3C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4050792"/>
            <a:ext cx="64008" cy="804672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" y="41056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Catalogue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" y="439826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document: all 100 systems, manufacturers, protocols (OPC-UA, Profinet, Modbus), and connection status.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1444752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2B2E3C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1444752"/>
            <a:ext cx="64008" cy="804672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27" name="Text 25"/>
          <p:cNvSpPr/>
          <p:nvPr/>
        </p:nvSpPr>
        <p:spPr>
          <a:xfrm>
            <a:off x="4873752" y="14996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Middleware / Edge Gateways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73752" y="179222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Protocol-agnostic middleware (Azure IoT Hub, Siemens MindSphere, Node-RED) handles heterogeneous interfaces without bespoke development.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2313432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2B2E3C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313432"/>
            <a:ext cx="64008" cy="804672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31" name="Text 29"/>
          <p:cNvSpPr/>
          <p:nvPr/>
        </p:nvSpPr>
        <p:spPr>
          <a:xfrm>
            <a:off x="4873752" y="23682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OPC-UA Adapters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73752" y="266090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communication layer — significantly reduces integration effort when vendors support this protocol.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09160" y="3182112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2B2E3C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3182112"/>
            <a:ext cx="64008" cy="804672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35" name="Text 33"/>
          <p:cNvSpPr/>
          <p:nvPr/>
        </p:nvSpPr>
        <p:spPr>
          <a:xfrm>
            <a:off x="4873752" y="32369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 Dashboard (Grafana / Power BI)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73752" y="352958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visualisation of availability, performance &amp; quality. Live by Phase 1 for pilot systems; full plant view by SoP.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09160" y="4050792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2B2E3C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4050792"/>
            <a:ext cx="64008" cy="804672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39" name="Text 37"/>
          <p:cNvSpPr/>
          <p:nvPr/>
        </p:nvSpPr>
        <p:spPr>
          <a:xfrm>
            <a:off x="4873752" y="41056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/ SAP-PM Connector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73752" y="439826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between MDA data streams and maintenance management systems for workflow triggers and audit logging.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CROSS-PLANT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MDA Blueprint — Transferable Knowledge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Phase 1, all technical and organisational learnings are captured in a structured Blueprint that enables future cross-plant rollout.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36192"/>
            <a:ext cx="40233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36192"/>
            <a:ext cx="4023360" cy="73152"/>
          </a:xfrm>
          <a:prstGeom prst="rect">
            <a:avLst/>
          </a:prstGeom>
          <a:solidFill>
            <a:srgbClr val="E2C8B5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" y="170078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Connector Specs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" y="208483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connector specifications per protocol type (OPC-UA, Modbus, Profinet), applicable to any DB FZI plant.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1536192"/>
            <a:ext cx="40233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536192"/>
            <a:ext cx="4023360" cy="73152"/>
          </a:xfrm>
          <a:prstGeom prst="rect">
            <a:avLst/>
          </a:prstGeom>
          <a:solidFill>
            <a:srgbClr val="E2C8B5"/>
          </a:solidFill>
          <a:ln/>
        </p:spPr>
      </p:sp>
      <p:sp>
        <p:nvSpPr>
          <p:cNvPr id="12" name="Text 10"/>
          <p:cNvSpPr/>
          <p:nvPr/>
        </p:nvSpPr>
        <p:spPr>
          <a:xfrm>
            <a:off x="4736592" y="170078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Standards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36592" y="208483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KPI calculation logic for OEE, availability, and energy — enabling cross-plant comparability.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40233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26080"/>
            <a:ext cx="4023360" cy="73152"/>
          </a:xfrm>
          <a:prstGeom prst="rect">
            <a:avLst/>
          </a:prstGeom>
          <a:solidFill>
            <a:srgbClr val="E2C8B5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" y="30906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Templates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4632" y="34747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MDA procurement clauses mandating OPC-UA interfaces — reducing future integration costs plant-wide.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0" y="2926080"/>
            <a:ext cx="40233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2926080"/>
            <a:ext cx="4023360" cy="73152"/>
          </a:xfrm>
          <a:prstGeom prst="rect">
            <a:avLst/>
          </a:prstGeom>
          <a:solidFill>
            <a:srgbClr val="E2C8B5"/>
          </a:solidFill>
          <a:ln/>
        </p:spPr>
      </p:sp>
      <p:sp>
        <p:nvSpPr>
          <p:cNvPr id="20" name="Text 18"/>
          <p:cNvSpPr/>
          <p:nvPr/>
        </p:nvSpPr>
        <p:spPr>
          <a:xfrm>
            <a:off x="4736592" y="30906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Council Playbook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36592" y="34747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checklist and communication templates for navigating data-level sensitivities at other plants.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4434840"/>
            <a:ext cx="8503920" cy="566928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v1  </a:t>
            </a:r>
            <a:r>
              <a:rPr lang="en-US" sz="13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End of Phase 1 (Q4 2026)  </a:t>
            </a:r>
            <a:r>
              <a:rPr lang="en-US" sz="13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Blueprint v2  </a:t>
            </a:r>
            <a:r>
              <a:rPr lang="en-US" sz="13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SoP (June 2027) — Definitive cross-plant guide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828800"/>
            <a:ext cx="4572000" cy="4572000"/>
          </a:xfrm>
          <a:prstGeom prst="ellipse">
            <a:avLst/>
          </a:prstGeom>
          <a:solidFill>
            <a:srgbClr val="E2C8B5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36576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1536192"/>
            <a:ext cx="347472" cy="347472"/>
          </a:xfrm>
          <a:prstGeom prst="ellipse">
            <a:avLst/>
          </a:prstGeom>
          <a:solidFill>
            <a:srgbClr val="D73729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536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1481328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sequencing  </a:t>
            </a:r>
            <a:r>
              <a:rPr lang="en-US" sz="14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system criticality, building section readiness, and interface clustering for maximum efficiency.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2359152"/>
            <a:ext cx="347472" cy="347472"/>
          </a:xfrm>
          <a:prstGeom prst="ellipse">
            <a:avLst/>
          </a:prstGeom>
          <a:solidFill>
            <a:srgbClr val="D7372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2359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" y="2304288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clear phases  </a:t>
            </a:r>
            <a:r>
              <a:rPr lang="en-US" sz="14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buffer-protected milestones from Q1 2026 through the June 2027 SoP.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3182112"/>
            <a:ext cx="347472" cy="347472"/>
          </a:xfrm>
          <a:prstGeom prst="ellipse">
            <a:avLst/>
          </a:prstGeom>
          <a:solidFill>
            <a:srgbClr val="D73729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" y="3127248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prioritisation  </a:t>
            </a:r>
            <a:r>
              <a:rPr lang="en-US" sz="14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Tier 1 safety-critical systems deliver value in Phase 1 before full scale-up.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4005072"/>
            <a:ext cx="347472" cy="347472"/>
          </a:xfrm>
          <a:prstGeom prst="ellipse">
            <a:avLst/>
          </a:prstGeom>
          <a:solidFill>
            <a:srgbClr val="D73729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4005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9808" y="3950208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MDA Blueprint  </a:t>
            </a:r>
            <a:r>
              <a:rPr lang="en-US" sz="14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Cottbus learnings into a reusable asset for all future DB FZI plant rollouts.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2C8B5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4773168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FZI — MDA Project  ·  New Cottbus Plant  ·  Target: June 2027 SoP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8686800" cy="502920"/>
          </a:xfrm>
          <a:prstGeom prst="rect">
            <a:avLst/>
          </a:prstGeom>
          <a:solidFill>
            <a:srgbClr val="2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" y="246888"/>
            <a:ext cx="8458200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E2C8B5"/>
                </a:solidFill>
                <a:latin typeface="Open Sans"/>
              </a:rPr>
              <a:t>APA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388620"/>
            <a:ext cx="8458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Bitter"/>
              </a:rPr>
              <a:t>Full Reference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880000"/>
            <a:ext cx="8458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B2E3C"/>
                </a:solidFill>
                <a:latin typeface="Roboto"/>
              </a:rPr>
              <a:t>[1]  PMI. (2021). PMBOK® Guide — A guide to the project management body of knowledge (7th ed.). Project Management Institute.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" y="1220000"/>
            <a:ext cx="8458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B2E3C"/>
                </a:solidFill>
                <a:latin typeface="Roboto"/>
              </a:rPr>
              <a:t>[2]  Kerzner, H. (2022). Project management: A systems approach to planning, scheduling, and controlling (13th ed.). Wiley.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" y="1560000"/>
            <a:ext cx="8458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B2E3C"/>
                </a:solidFill>
                <a:latin typeface="Roboto"/>
              </a:rPr>
              <a:t>[4]  Galbraith, J. R. (1971). Matrix organization designs: How to combine functional and project forms. Business Horizons, 14(1), 29–40.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1900000"/>
            <a:ext cx="8458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B2E3C"/>
                </a:solidFill>
                <a:latin typeface="Roboto"/>
              </a:rPr>
              <a:t>[5]  Davis, S. M., &amp; Lawrence, P. R. (1977). Matrix. Addison-Wesley.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2240000"/>
            <a:ext cx="8458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B2E3C"/>
                </a:solidFill>
                <a:latin typeface="Roboto"/>
              </a:rPr>
              <a:t>[7]  Turner, J. R., &amp; Cochrane, R. A. (1993). Goals-and-methods matrix: Coping with projects with ill-defined goals and/or methods of achieving them. International Journal of Project Management, 11(2), 93–102.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" y="2580000"/>
            <a:ext cx="8458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B2E3C"/>
                </a:solidFill>
                <a:latin typeface="Roboto"/>
              </a:rPr>
              <a:t>[8]  Andersen, E. S., Grude, K. V., &amp; Haug, T. (2009). Goal directed project management (4th ed.). Kogan Page. Cited in Miranda, E. (2019). Milestone planning. PM World Journal, VIII(XI).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" y="2920000"/>
            <a:ext cx="8458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B2E3C"/>
                </a:solidFill>
                <a:latin typeface="Roboto"/>
              </a:rPr>
              <a:t>[9]  Cooper, R. G. (1990). Stage-gate systems: A new tool for managing new products. Business Horizons, 33(3), 44–54.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" y="3260000"/>
            <a:ext cx="8458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B2E3C"/>
                </a:solidFill>
                <a:latin typeface="Roboto"/>
              </a:rPr>
              <a:t>[10] Cooper, R. G. (2008). The Stage-Gate® idea-to-launch process — Update, what's new, and NexGen systems. Journal of Product Innovation Management, 25(3), 213–232.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879975"/>
            <a:ext cx="9144000" cy="263525"/>
          </a:xfrm>
          <a:prstGeom prst="rect">
            <a:avLst/>
          </a:prstGeom>
          <a:solidFill>
            <a:srgbClr val="2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0" y="4879975"/>
            <a:ext cx="9144000" cy="263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Open Sans"/>
              </a:rPr>
              <a:t>DB FZI — MDA Project  ·  New Cottbus Plant  ·  Target: June 2027 SoP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1035</Words>
  <Application>Microsoft Office PowerPoint</Application>
  <PresentationFormat>On-screen Show (16:9)</PresentationFormat>
  <Paragraphs>211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MDA Rollout Plan – Strategic Timeline</dc:title>
  <dc:subject>PptxGenJS Presentation</dc:subject>
  <dc:creator>PptxGenJS</dc:creator>
  <cp:lastModifiedBy>shashank Ojha</cp:lastModifiedBy>
  <cp:revision>2</cp:revision>
  <dcterms:created xsi:type="dcterms:W3CDTF">2026-03-01T19:40:22Z</dcterms:created>
  <dcterms:modified xsi:type="dcterms:W3CDTF">2026-03-01T20:24:41Z</dcterms:modified>
</cp:coreProperties>
</file>