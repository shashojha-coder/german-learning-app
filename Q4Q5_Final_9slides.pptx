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828800"/>
            <a:ext cx="5943600" cy="5943600"/>
          </a:xfrm>
          <a:prstGeom prst="ellipse">
            <a:avLst/>
          </a:prstGeom>
          <a:solidFill>
            <a:srgbClr val="D73729">
              <a:alpha val="90000"/>
            </a:srgbClr>
          </a:solidFill>
          <a:ln w="12700">
            <a:solidFill>
              <a:srgbClr val="D73729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04320" y="182880"/>
            <a:ext cx="3840480" cy="3840480"/>
          </a:xfrm>
          <a:prstGeom prst="ellipse">
            <a:avLst/>
          </a:prstGeom>
          <a:solidFill>
            <a:srgbClr val="BD3022">
              <a:alpha val="80000"/>
            </a:srgbClr>
          </a:solidFill>
          <a:ln w="12700">
            <a:solidFill>
              <a:srgbClr val="BD3022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4 &amp;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Project Management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Organisation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&amp; Milestones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Framework Applied to the MDA — New Cottbus Plant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5907024"/>
            <a:ext cx="5120640" cy="45720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070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PMBOK® · Kerzner · Cooper · Turner &amp; Cochrane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7735824"/>
            <a:ext cx="14630400" cy="493776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7735824"/>
            <a:ext cx="1463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 FZI — MDA Project  ·  New Cottbus Plant  ·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13898880" cy="8046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1353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4 — RECOMMENDED 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353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Strong Matrix Organisation for the MDA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13898880" cy="475488"/>
          </a:xfrm>
          <a:prstGeom prst="rect">
            <a:avLst/>
          </a:prstGeom>
          <a:solidFill>
            <a:srgbClr val="FCE2CF">
              <a:alpha val="80000"/>
            </a:srgbClr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16736"/>
            <a:ext cx="1362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Kerzner (2022, p. 108): Matrix is preferred when (a) interdisciplinary teamwork is required, (b) resources are shared across projects, and (c) one PM must be accountable for delivery. All three apply here.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920240"/>
            <a:ext cx="5303520" cy="749808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938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STEERING COMMITTEE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22128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Sponsor · DB Systel Director · Works Council Rep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2670048"/>
            <a:ext cx="0" cy="347472"/>
          </a:xfrm>
          <a:prstGeom prst="line">
            <a:avLst/>
          </a:prstGeom>
          <a:noFill/>
          <a:ln w="12700">
            <a:solidFill>
              <a:srgbClr val="2B2E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3017520"/>
            <a:ext cx="4937760" cy="676656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035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MDA PROJECT MANAGER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33101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Systel · Strong Matrix Authority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694176"/>
            <a:ext cx="11338560" cy="0"/>
          </a:xfrm>
          <a:prstGeom prst="line">
            <a:avLst/>
          </a:prstGeom>
          <a:noFill/>
          <a:ln w="12700">
            <a:solidFill>
              <a:srgbClr val="2B2E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3694176"/>
            <a:ext cx="0" cy="237744"/>
          </a:xfrm>
          <a:prstGeom prst="line">
            <a:avLst/>
          </a:prstGeom>
          <a:noFill/>
          <a:ln w="12700">
            <a:solidFill>
              <a:srgbClr val="2B2E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3694176"/>
            <a:ext cx="0" cy="237744"/>
          </a:xfrm>
          <a:prstGeom prst="line">
            <a:avLst/>
          </a:prstGeom>
          <a:noFill/>
          <a:ln w="12700">
            <a:solidFill>
              <a:srgbClr val="2B2E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984480" y="3694176"/>
            <a:ext cx="0" cy="237744"/>
          </a:xfrm>
          <a:prstGeom prst="line">
            <a:avLst/>
          </a:prstGeom>
          <a:noFill/>
          <a:ln w="12700">
            <a:solidFill>
              <a:srgbClr val="2B2E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31920"/>
            <a:ext cx="4389120" cy="4005072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931920"/>
            <a:ext cx="4389120" cy="45720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941064"/>
            <a:ext cx="4169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4498848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MDA system design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" y="5266944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OPC-UA / protocol standards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6035040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gateway config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" y="6803136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 integration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120640" y="3931920"/>
            <a:ext cx="4389120" cy="4005072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3931920"/>
            <a:ext cx="4389120" cy="45720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3941064"/>
            <a:ext cx="4169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Project Integration &amp; PMO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4498848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 schedule &amp; risk register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30368" y="5266944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to Steering Committee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30368" y="6035040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 control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30368" y="6803136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tracking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875520" y="3931920"/>
            <a:ext cx="4389120" cy="4005072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5520" y="3931920"/>
            <a:ext cx="4389120" cy="457200"/>
          </a:xfrm>
          <a:prstGeom prst="rect">
            <a:avLst/>
          </a:prstGeom>
          <a:solidFill>
            <a:srgbClr val="AF2C20"/>
          </a:solidFill>
          <a:ln w="12700">
            <a:solidFill>
              <a:srgbClr val="AF2C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85248" y="3941064"/>
            <a:ext cx="4169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Stakeholder &amp; Compliance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85248" y="4498848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Council liaison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985248" y="5266944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DSGVO / BDSG compliance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985248" y="6035040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Staff communication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985248" y="6803136"/>
            <a:ext cx="4169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readiness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65760" y="7991856"/>
            <a:ext cx="1389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[1] PMI (2021). PMBOK® Guide, 7th ed., p. 160  ·  [2] Kerzner, H. (2022). Project Management, 13th ed., Wiley, p. 108  ·  [4] Galbraith (1971). Business Horizons, 14(1), 29–40  ·  [5] Davis &amp; Lawrence (1977). Matrix, Addison-Wesley, p. 131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13898880" cy="8046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1353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4 — GOVERNANCE &amp; 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353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Matrix Risk, RACI Framework &amp; Mitigations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6217920" cy="662025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6217920" cy="45720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0759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⚠  THE RISK: DUAL REPORTING CONFLICT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" y="1847088"/>
            <a:ext cx="5943600" cy="596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academic literature consistently identifies role ambiguity as the primary weakness of matrix structures.
</a:t>
            </a:r>
            <a:pPr indent="0" marL="0">
              <a:buNone/>
            </a:pPr>
            <a:r>
              <a:rPr lang="en-US" sz="120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Galbraith (1971) [4] and Davis &amp; Lawrence (1977, p. 134) [5] observe that employees facing conflicting instructions from both a PM and a functional manager experience stress and reduced productivity.
</a:t>
            </a:r>
            <a:pPr indent="0" marL="0">
              <a:buNone/>
            </a:pPr>
            <a:r>
              <a:rPr lang="en-US" sz="120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the MDA project: DB Systel engineers working across 50 subprojects may deprioritise MDA tasks in favour of functional department demands.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1298448"/>
            <a:ext cx="7406640" cy="662025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298448"/>
            <a:ext cx="7406640" cy="45720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4304" y="130759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✓  RACI &amp; MITIGATIONS FOR MDA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31152" y="1847088"/>
            <a:ext cx="1243584" cy="3474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1847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11312" y="1847088"/>
            <a:ext cx="1243584" cy="3474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847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Responsible (R)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491472" y="1847088"/>
            <a:ext cx="1243584" cy="3474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8048" y="1847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Accountable (A)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771632" y="1847088"/>
            <a:ext cx="1243584" cy="3474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08208" y="1847088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Consulted (C)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051792" y="1847088"/>
            <a:ext cx="1938528" cy="3474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88368" y="18470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Informed (I)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31152" y="2212848"/>
            <a:ext cx="1243584" cy="49377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7728" y="2249424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PM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11312" y="2212848"/>
            <a:ext cx="1243584" cy="49377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2249424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MDA deliverables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491472" y="2212848"/>
            <a:ext cx="1243584" cy="49377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8048" y="2249424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&amp; budget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771632" y="2212848"/>
            <a:ext cx="1243584" cy="49377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08208" y="2249424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Systel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2051792" y="2212848"/>
            <a:ext cx="1938528" cy="49377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88368" y="2249424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Sponsor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31152" y="2724912"/>
            <a:ext cx="1243584" cy="493776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2761488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Systel Eng.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11312" y="2724912"/>
            <a:ext cx="1243584" cy="493776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2761488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integration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491472" y="2724912"/>
            <a:ext cx="1243584" cy="493776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28048" y="2761488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PM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771632" y="2724912"/>
            <a:ext cx="1243584" cy="493776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08208" y="2761488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2051792" y="2724912"/>
            <a:ext cx="1938528" cy="493776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88368" y="2761488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Council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31152" y="3236976"/>
            <a:ext cx="1243584" cy="49377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67728" y="327355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Council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11312" y="3236976"/>
            <a:ext cx="1243584" cy="49377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47888" y="327355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491472" y="3236976"/>
            <a:ext cx="1243584" cy="49377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28048" y="327355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usage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771632" y="3236976"/>
            <a:ext cx="1243584" cy="49377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808208" y="3273552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PM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2051792" y="3236976"/>
            <a:ext cx="1938528" cy="49377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088368" y="3273552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Cmte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931152" y="3749040"/>
            <a:ext cx="1243584" cy="493776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67728" y="378561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211312" y="3749040"/>
            <a:ext cx="1243584" cy="493776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47888" y="378561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OPC-UA connect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491472" y="3749040"/>
            <a:ext cx="1243584" cy="493776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28048" y="378561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 PM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771632" y="3749040"/>
            <a:ext cx="1243584" cy="493776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808208" y="3785616"/>
            <a:ext cx="1170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Systel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2051792" y="3749040"/>
            <a:ext cx="1938528" cy="493776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088368" y="3785616"/>
            <a:ext cx="18653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31152" y="4389120"/>
            <a:ext cx="420624" cy="420624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31152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443216" y="4334256"/>
            <a:ext cx="6656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Escalation Paths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443216" y="4791456"/>
            <a:ext cx="6656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 escalation to Steering Committee for resource conflicts — PM authority is backed by governance.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931152" y="5541264"/>
            <a:ext cx="420624" cy="420624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31152" y="5541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7443216" y="5486400"/>
            <a:ext cx="6656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Contractual Delineation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443216" y="5943600"/>
            <a:ext cx="6656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DB FZI / DB Systel / Vendor responsibilities defined in the partnership agreement.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931152" y="6693408"/>
            <a:ext cx="420624" cy="420624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31152" y="6693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443216" y="6638544"/>
            <a:ext cx="6656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Bi-weekly Risk Review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7443216" y="7095744"/>
            <a:ext cx="66568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RACI reviewed every sprint; red-rated items escalated immediately to programme level.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365760" y="7991856"/>
            <a:ext cx="1389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[4] Galbraith (1971). Business Horizons, 14(1), 29–40  ·  [5] Davis &amp; Lawrence (1977). Matrix, Addison-Wesley, p. 134  ·  RACI: Project Management Institute (2021). PMBOK® Guide, 7th ed., p. 160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13898880" cy="8046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1353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5 — ACADEMIC 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353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Milestones &amp; Stage-Gate®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6766560" cy="662025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6766560" cy="45720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07592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IS A MILESTONE?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" y="1865376"/>
            <a:ext cx="6510528" cy="749808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83664"/>
            <a:ext cx="6272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PMBOK® Guide (7th ed., p. 245):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2121408"/>
            <a:ext cx="6272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milestone is a significant point or event in a project, programme, or portfolio."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3776" y="2779776"/>
            <a:ext cx="6510528" cy="1572768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2779776"/>
            <a:ext cx="6510528" cy="402336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788920"/>
            <a:ext cx="627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Zero Duration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3236976"/>
            <a:ext cx="627278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Milestones mark a state, not an activity — they have no duration.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Kerzner (2022, p. 24) [2]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" y="4480560"/>
            <a:ext cx="6510528" cy="1572768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4480560"/>
            <a:ext cx="6510528" cy="402336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489704"/>
            <a:ext cx="627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Outcome State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4937760"/>
            <a:ext cx="627278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Turner &amp; Cochrane (1993, p. 94) [7]: Plan around what must be achieved, not how to achieve 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" y="6181344"/>
            <a:ext cx="6510528" cy="1572768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" y="6181344"/>
            <a:ext cx="6510528" cy="402336"/>
          </a:xfrm>
          <a:prstGeom prst="rect">
            <a:avLst/>
          </a:prstGeom>
          <a:solidFill>
            <a:srgbClr val="AF2C20"/>
          </a:solidFill>
          <a:ln w="12700">
            <a:solidFill>
              <a:srgbClr val="AF2C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6190488"/>
            <a:ext cx="627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Participatory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" y="6638544"/>
            <a:ext cx="627278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Andersen et al. (2009) [8]: Milestones built with the team increase commitment — critical given Works Council.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1298448"/>
            <a:ext cx="6858000" cy="6620256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298448"/>
            <a:ext cx="6858000" cy="45720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130759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STAGE-GATE® MODEL — COOPER (1990, 2008)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16368" y="1865376"/>
            <a:ext cx="6620256" cy="64008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44384" y="1883664"/>
            <a:ext cx="6400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conceptual and operational road map…dividing the effort into distinct stages separated by management decision gates."  — Cooper (1990, p. 44) [9]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16368" y="2651760"/>
            <a:ext cx="1554480" cy="7132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6368" y="2651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070848" y="2944368"/>
            <a:ext cx="109728" cy="91440"/>
          </a:xfrm>
          <a:prstGeom prst="rect">
            <a:avLst/>
          </a:prstGeom>
          <a:solidFill>
            <a:srgbClr val="E2C8B5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8650224" y="3529584"/>
            <a:ext cx="438912" cy="438912"/>
          </a:xfrm>
          <a:prstGeom prst="rect">
            <a:avLst/>
          </a:prstGeom>
          <a:solidFill>
            <a:srgbClr val="2B2E3C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7072" y="352958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180576" y="2651760"/>
            <a:ext cx="1554480" cy="7132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0576" y="2651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Pilot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735056" y="2944368"/>
            <a:ext cx="109728" cy="91440"/>
          </a:xfrm>
          <a:prstGeom prst="rect">
            <a:avLst/>
          </a:prstGeom>
          <a:solidFill>
            <a:srgbClr val="E2C8B5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10314432" y="3529584"/>
            <a:ext cx="438912" cy="438912"/>
          </a:xfrm>
          <a:prstGeom prst="rect">
            <a:avLst/>
          </a:prstGeom>
          <a:solidFill>
            <a:srgbClr val="2B2E3C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0" y="352958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844784" y="2651760"/>
            <a:ext cx="1554480" cy="7132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44784" y="2651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Scale-Up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2399264" y="2944368"/>
            <a:ext cx="109728" cy="91440"/>
          </a:xfrm>
          <a:prstGeom prst="rect">
            <a:avLst/>
          </a:prstGeom>
          <a:solidFill>
            <a:srgbClr val="E2C8B5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11978640" y="3529584"/>
            <a:ext cx="438912" cy="438912"/>
          </a:xfrm>
          <a:prstGeom prst="rect">
            <a:avLst/>
          </a:prstGeom>
          <a:solidFill>
            <a:srgbClr val="2B2E3C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905488" y="352958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2508992" y="2651760"/>
            <a:ext cx="1554480" cy="7132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508992" y="2651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SoP Ready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3752576" y="2651760"/>
            <a:ext cx="310896" cy="713232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52576" y="2651760"/>
            <a:ext cx="310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SoP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2027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 rot="2700000">
            <a:off x="13642848" y="3529584"/>
            <a:ext cx="438912" cy="438912"/>
          </a:xfrm>
          <a:prstGeom prst="rect">
            <a:avLst/>
          </a:prstGeom>
          <a:solidFill>
            <a:srgbClr val="2B2E3C"/>
          </a:solidFill>
          <a:ln w="12700">
            <a:solidFill>
              <a:srgbClr val="2B2E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569696" y="352958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G3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4410944" y="2907792"/>
            <a:ext cx="128016" cy="201168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187952"/>
            <a:ext cx="6620256" cy="115214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16368" y="4187952"/>
            <a:ext cx="64008" cy="1152144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44384" y="4224528"/>
            <a:ext cx="6364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Go/No-Go Authority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644384" y="4608576"/>
            <a:ext cx="6364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Gates require Steering Committee sign-off before next phase is funded. Prevents scope creep across 50 sub-projects. [9]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516368" y="5449824"/>
            <a:ext cx="6620256" cy="115214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16368" y="5449824"/>
            <a:ext cx="64008" cy="1152144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44384" y="5486400"/>
            <a:ext cx="6364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Deliverable-Based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644384" y="5870448"/>
            <a:ext cx="6364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Phases close only when outputs are achieved ('Interface Catalogue v1 approved'), not when time elapses. [9]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516368" y="6711696"/>
            <a:ext cx="6620256" cy="115214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16368" y="6711696"/>
            <a:ext cx="64008" cy="1152144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44384" y="6748272"/>
            <a:ext cx="6364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Risk Embedded by Design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644384" y="7132320"/>
            <a:ext cx="6364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Cooper (2008, p. 215): checkpoints "provide for project control and management." Gates surface risks early. [10]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65760" y="7991856"/>
            <a:ext cx="1389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[1] PMI (2021). PMBOK® Guide, 7th ed., p. 245  ·  [2] Kerzner (2022), p. 24  ·  [7] Turner &amp; Cochrane (1993). IJPM, 11(2), 93–102  ·  [8] Andersen et al. (2009)  ·  [9] Cooper (1990). Business Horizons, 33(3), 44–54  ·  [10] Cooper (2008). JPIM, 25(3), 213–232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13898880" cy="8046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1353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5 — MILESTONES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353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Six Stage-Gate Milestones: MDA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16736"/>
            <a:ext cx="768096" cy="402336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1673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70432" y="1316736"/>
            <a:ext cx="2706624" cy="402336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3167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13632" y="1316736"/>
            <a:ext cx="5376672" cy="402336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68496" y="1316736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Gate Criteria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0" y="1316736"/>
            <a:ext cx="2084832" cy="402336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81744" y="13167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Target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448288" y="1316736"/>
            <a:ext cx="2816352" cy="402336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03152" y="1316736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Gatekeepers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737360"/>
            <a:ext cx="768096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0432" y="1737360"/>
            <a:ext cx="2706624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13632" y="1737360"/>
            <a:ext cx="5376672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1737360"/>
            <a:ext cx="2084832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48288" y="1737360"/>
            <a:ext cx="2816352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737360"/>
            <a:ext cx="768096" cy="100584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737360"/>
            <a:ext cx="768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43584" y="1810512"/>
            <a:ext cx="261518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Project Initiated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86784" y="1792224"/>
            <a:ext cx="5285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inventory (100), data standards approved, Works Council informed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81744" y="179222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 Q1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21440" y="179222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Sponsor · DB Systel PM · Works Council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743200"/>
            <a:ext cx="768096" cy="10058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0432" y="2743200"/>
            <a:ext cx="2706624" cy="10058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13632" y="2743200"/>
            <a:ext cx="5376672" cy="10058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2743200"/>
            <a:ext cx="2084832" cy="10058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48288" y="2743200"/>
            <a:ext cx="2816352" cy="10058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743200"/>
            <a:ext cx="768096" cy="100584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743200"/>
            <a:ext cx="768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43584" y="2816352"/>
            <a:ext cx="261518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Pilot Authorised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986784" y="2798064"/>
            <a:ext cx="5285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catalogue v1 approved; RACI signed; OPC-UA vendor contracts in place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81744" y="279806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 Q2 2026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21440" y="279806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Committee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749040"/>
            <a:ext cx="768096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70432" y="3749040"/>
            <a:ext cx="2706624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13632" y="3749040"/>
            <a:ext cx="5376672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26880" y="3749040"/>
            <a:ext cx="2084832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448288" y="3749040"/>
            <a:ext cx="2816352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749040"/>
            <a:ext cx="768096" cy="100584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749040"/>
            <a:ext cx="768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43584" y="3822192"/>
            <a:ext cx="261518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MDA Level 1 Live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986784" y="3803904"/>
            <a:ext cx="5285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≥15 Tier 1 systems live; OEE dashboard operational; Blueprint v1 published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381744" y="380390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 Q4 2026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521440" y="380390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PM · DB Systel Architect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754880"/>
            <a:ext cx="768096" cy="10058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0432" y="4754880"/>
            <a:ext cx="2706624" cy="10058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13632" y="4754880"/>
            <a:ext cx="5376672" cy="10058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26880" y="4754880"/>
            <a:ext cx="2084832" cy="10058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448288" y="4754880"/>
            <a:ext cx="2816352" cy="10058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4754880"/>
            <a:ext cx="768096" cy="100584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754880"/>
            <a:ext cx="768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243584" y="4828032"/>
            <a:ext cx="261518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Scale-Up Authorised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3986784" y="4809744"/>
            <a:ext cx="5285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critical defects open; Works Council sign-off on data usage framework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381744" y="480974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 Q1 2027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1521440" y="480974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Committee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5760720"/>
            <a:ext cx="768096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70432" y="5760720"/>
            <a:ext cx="2706624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913632" y="5760720"/>
            <a:ext cx="5376672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26880" y="5760720"/>
            <a:ext cx="2084832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48288" y="5760720"/>
            <a:ext cx="2816352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5760" y="5760720"/>
            <a:ext cx="768096" cy="100584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5760720"/>
            <a:ext cx="768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M4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243584" y="5833872"/>
            <a:ext cx="261518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MDA Level 2 Live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3986784" y="5815584"/>
            <a:ext cx="5285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systems connected; SAP-PM integration tested; training approved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381744" y="581558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 May 2027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1521440" y="581558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Sponsor · DB Systel PM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" y="6766560"/>
            <a:ext cx="768096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0432" y="6766560"/>
            <a:ext cx="2706624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13632" y="6766560"/>
            <a:ext cx="5376672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26880" y="6766560"/>
            <a:ext cx="2084832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448288" y="6766560"/>
            <a:ext cx="2816352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" y="6766560"/>
            <a:ext cx="768096" cy="100584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6766560"/>
            <a:ext cx="768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M5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243584" y="6839712"/>
            <a:ext cx="261518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SoP Handover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3986784" y="6821424"/>
            <a:ext cx="52852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Acceptance test signed; staff trained; KPI dashboard live; Blueprint v2 delivered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381744" y="6821424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June 2027 ★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1521440" y="6821424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Committee · DB FZI Board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365760" y="7991856"/>
            <a:ext cx="1389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[7] Turner &amp; Cochrane (1993). IJPM, 11(2), 93–102  ·  [9] Cooper (1990). Business Horizons, 33(3), 44–54, p. 47  ·  ★ Politically binding SoP date per DB FZI mandate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13898880" cy="8046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1353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ROLLOUT GANTT CHART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353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Tier-by-Tier Schedule: Q1 2026 → June 2027 SoP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1316736"/>
            <a:ext cx="553212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316736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732520" y="1316736"/>
            <a:ext cx="553212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1316736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81508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508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Feb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2976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976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4444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444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5912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912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7380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380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8848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848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50316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316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11784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784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73252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34720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4720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961880" y="1572768"/>
            <a:ext cx="614680" cy="2560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188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576560" y="1572768"/>
            <a:ext cx="614680" cy="256032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7656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1191240" y="1572768"/>
            <a:ext cx="614680" cy="256032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9124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Feb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1805920" y="1572768"/>
            <a:ext cx="614680" cy="256032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80592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2420600" y="1572768"/>
            <a:ext cx="614680" cy="256032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42060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3035280" y="1572768"/>
            <a:ext cx="614680" cy="256032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03528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3649960" y="1572768"/>
            <a:ext cx="614680" cy="256032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649960" y="1572768"/>
            <a:ext cx="61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5760" y="1316736"/>
            <a:ext cx="2798064" cy="512064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1316736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Activity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1828800"/>
            <a:ext cx="13898880" cy="45720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" y="182880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PHASE OVERVIEW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0" y="1883664"/>
            <a:ext cx="1844040" cy="347472"/>
          </a:xfrm>
          <a:prstGeom prst="rect">
            <a:avLst/>
          </a:prstGeom>
          <a:solidFill>
            <a:srgbClr val="3D6B6F"/>
          </a:solidFill>
          <a:ln w="12700">
            <a:solidFill>
              <a:srgbClr val="3D6B6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1883664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0: Foundation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044440" y="1883664"/>
            <a:ext cx="3688080" cy="347472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90160" y="1883664"/>
            <a:ext cx="364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1: Pilot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732520" y="1883664"/>
            <a:ext cx="3688080" cy="347472"/>
          </a:xfrm>
          <a:prstGeom prst="rect">
            <a:avLst/>
          </a:prstGeom>
          <a:solidFill>
            <a:srgbClr val="AF2C20"/>
          </a:solidFill>
          <a:ln w="12700">
            <a:solidFill>
              <a:srgbClr val="AF2C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78240" y="1883664"/>
            <a:ext cx="364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2: Scale-Up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2420600" y="1883664"/>
            <a:ext cx="1844040" cy="347472"/>
          </a:xfrm>
          <a:prstGeom prst="rect">
            <a:avLst/>
          </a:prstGeom>
          <a:solidFill>
            <a:srgbClr val="7F1F17"/>
          </a:solidFill>
          <a:ln w="12700">
            <a:solidFill>
              <a:srgbClr val="7F1F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466320" y="1883664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3: SoP Ready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65760" y="2286000"/>
            <a:ext cx="13898880" cy="45720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" y="228600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TIER 1 — SAFETY-CRITICAL  (~15–20 systems)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2743200"/>
            <a:ext cx="2798064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" y="274320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Wheel Lathes (2–3)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044440" y="2798064"/>
            <a:ext cx="1229360" cy="347472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90160" y="2798064"/>
            <a:ext cx="118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273800" y="2798064"/>
            <a:ext cx="1229360" cy="347472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19520" y="2798064"/>
            <a:ext cx="118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65760" y="3200400"/>
            <a:ext cx="2798064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0624" y="320040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Lifting Systems (4–5)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44440" y="3255264"/>
            <a:ext cx="1844040" cy="347472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90160" y="3255264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888480" y="3255264"/>
            <a:ext cx="1844040" cy="347472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34200" y="3255264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65760" y="3657600"/>
            <a:ext cx="2798064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0624" y="365760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Brake Test Rigs (3–4)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659120" y="3712464"/>
            <a:ext cx="1844040" cy="347472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04840" y="3712464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503160" y="3712464"/>
            <a:ext cx="1229360" cy="347472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48880" y="3712464"/>
            <a:ext cx="118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65760" y="4114800"/>
            <a:ext cx="13898880" cy="45720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" y="411480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TIER 2 — OEE IMPACT  (~50 systems)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4572000"/>
            <a:ext cx="2798064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0624" y="457200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CNC Machines (~12)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888480" y="4626864"/>
            <a:ext cx="1844040" cy="347472"/>
          </a:xfrm>
          <a:prstGeom prst="rect">
            <a:avLst/>
          </a:prstGeom>
          <a:solidFill>
            <a:srgbClr val="BD5030"/>
          </a:solidFill>
          <a:ln w="12700">
            <a:solidFill>
              <a:srgbClr val="BD503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34200" y="4626864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8732520" y="4626864"/>
            <a:ext cx="1844040" cy="347472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778240" y="4626864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65760" y="5029200"/>
            <a:ext cx="2798064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0624" y="502920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Welding / Compressors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503160" y="5084064"/>
            <a:ext cx="1844040" cy="347472"/>
          </a:xfrm>
          <a:prstGeom prst="rect">
            <a:avLst/>
          </a:prstGeom>
          <a:solidFill>
            <a:srgbClr val="BD5030"/>
          </a:solidFill>
          <a:ln w="12700">
            <a:solidFill>
              <a:srgbClr val="BD503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48880" y="5084064"/>
            <a:ext cx="179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9347200" y="5084064"/>
            <a:ext cx="2458720" cy="347472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392920" y="5084064"/>
            <a:ext cx="241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365760" y="5486400"/>
            <a:ext cx="13898880" cy="45720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3776" y="548640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TIER 3 — STANDARD  (~30–35 systems)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65760" y="5943600"/>
            <a:ext cx="2798064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0624" y="594360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Workshop / Auxiliary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732520" y="5998464"/>
            <a:ext cx="2458720" cy="347472"/>
          </a:xfrm>
          <a:prstGeom prst="rect">
            <a:avLst/>
          </a:prstGeom>
          <a:solidFill>
            <a:srgbClr val="7F4F35"/>
          </a:solidFill>
          <a:ln w="12700">
            <a:solidFill>
              <a:srgbClr val="7F4F3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778240" y="5998464"/>
            <a:ext cx="241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11191240" y="5998464"/>
            <a:ext cx="2458720" cy="347472"/>
          </a:xfrm>
          <a:prstGeom prst="rect">
            <a:avLst/>
          </a:prstGeom>
          <a:solidFill>
            <a:srgbClr val="AF2C20"/>
          </a:solidFill>
          <a:ln w="12700">
            <a:solidFill>
              <a:srgbClr val="AF2C2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236960" y="5998464"/>
            <a:ext cx="241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2420600" y="1572768"/>
            <a:ext cx="36576" cy="4828032"/>
          </a:xfrm>
          <a:prstGeom prst="rect">
            <a:avLst/>
          </a:prstGeom>
          <a:solidFill>
            <a:srgbClr val="F59700"/>
          </a:solidFill>
          <a:ln w="12700">
            <a:solidFill>
              <a:srgbClr val="F597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2146280" y="15727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3729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★ SoP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365760" y="7882128"/>
            <a:ext cx="256032" cy="164592"/>
          </a:xfrm>
          <a:prstGeom prst="rect">
            <a:avLst/>
          </a:prstGeom>
          <a:solidFill>
            <a:srgbClr val="3D6B6F"/>
          </a:solidFill>
          <a:ln w="12700">
            <a:solidFill>
              <a:srgbClr val="3D6B6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8368" y="7882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0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2194560" y="7882128"/>
            <a:ext cx="256032" cy="164592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487168" y="7882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1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023360" y="7882128"/>
            <a:ext cx="256032" cy="164592"/>
          </a:xfrm>
          <a:prstGeom prst="rect">
            <a:avLst/>
          </a:prstGeom>
          <a:solidFill>
            <a:srgbClr val="AF2C20"/>
          </a:solidFill>
          <a:ln w="12700">
            <a:solidFill>
              <a:srgbClr val="AF2C2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15968" y="7882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2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5852160" y="7882128"/>
            <a:ext cx="256032" cy="164592"/>
          </a:xfrm>
          <a:prstGeom prst="rect">
            <a:avLst/>
          </a:prstGeom>
          <a:solidFill>
            <a:srgbClr val="7F1F17"/>
          </a:solidFill>
          <a:ln w="12700">
            <a:solidFill>
              <a:srgbClr val="7F1F17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144768" y="7882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3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7680960" y="7882128"/>
            <a:ext cx="256032" cy="164592"/>
          </a:xfrm>
          <a:prstGeom prst="rect">
            <a:avLst/>
          </a:prstGeom>
          <a:solidFill>
            <a:srgbClr val="BD5030"/>
          </a:solidFill>
          <a:ln w="12700">
            <a:solidFill>
              <a:srgbClr val="BD503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973568" y="7882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9509760" y="7882128"/>
            <a:ext cx="256032" cy="164592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802368" y="7882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365760" y="7991856"/>
            <a:ext cx="1389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DB FZI MDA Project Rollout Plan (2026)  ·  [9] Cooper (1990), p. 47: phase-gate scheduling  ·  4–6 week buffer embedded at each phase transition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13898880" cy="8046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1353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5 — RECOMMENDED TOOLS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353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Hybrid Tool Approach: MS Project + Jira + Confluence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16736"/>
            <a:ext cx="4572000" cy="658368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16736"/>
            <a:ext cx="4572000" cy="71323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35024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Microsoft Project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" y="171907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/ Milestone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" y="2231136"/>
            <a:ext cx="201168" cy="201168"/>
          </a:xfrm>
          <a:prstGeom prst="ellipse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76272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Gantt chart with CPM for all 6 milestone gate dates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3657600"/>
            <a:ext cx="201168" cy="201168"/>
          </a:xfrm>
          <a:prstGeom prst="ellipse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02736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loading &amp; dependency mapping to construction programme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" y="5084064"/>
            <a:ext cx="201168" cy="201168"/>
          </a:xfrm>
          <a:prstGeom prst="ellipse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29200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Kerzner (2022, p. 133): CPM standard for projects with hard external deadlines [2]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" y="6510528"/>
            <a:ext cx="201168" cy="201168"/>
          </a:xfrm>
          <a:prstGeom prst="ellipse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455664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Audience: Steering Committee, DB FZI Sponsor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20640" y="1316736"/>
            <a:ext cx="4572000" cy="658368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1316736"/>
            <a:ext cx="4572000" cy="713232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8656" y="1335024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Jira Premium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48656" y="171907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/ Sprint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85232" y="2231136"/>
            <a:ext cx="201168" cy="201168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176272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Issue-level tracking of 100 system connection tasks across 3 tiers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85232" y="3657600"/>
            <a:ext cx="201168" cy="201168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602736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Sprint planning &amp; team-based velocity tracking per phase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285232" y="5084064"/>
            <a:ext cx="201168" cy="201168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5029200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Roadmaps integrates with MS Project for single source of truth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285232" y="6510528"/>
            <a:ext cx="201168" cy="201168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6455664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Audience: MDA PM, Technical Architecture, PMO workstream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875520" y="1316736"/>
            <a:ext cx="4572000" cy="658368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1316736"/>
            <a:ext cx="4572000" cy="713232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03536" y="1335024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Confluence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03536" y="171907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 / Documentation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40112" y="2231136"/>
            <a:ext cx="201168" cy="201168"/>
          </a:xfrm>
          <a:prstGeom prst="ellipse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0" y="2176272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MDA Blueprint v1 &amp; v2 documentation hub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0040112" y="3657600"/>
            <a:ext cx="201168" cy="201168"/>
          </a:xfrm>
          <a:prstGeom prst="ellipse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0" y="3602736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 review minutes, RACI matrices, interface catalogue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040112" y="5084064"/>
            <a:ext cx="201168" cy="201168"/>
          </a:xfrm>
          <a:prstGeom prst="ellipse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32720" y="5029200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 to Jira tasks for full decision-to-delivery traceability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040112" y="6510528"/>
            <a:ext cx="201168" cy="201168"/>
          </a:xfrm>
          <a:prstGeom prst="ellipse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2720" y="6455664"/>
            <a:ext cx="398678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Audience: All project participants + Works Council (read access)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65760" y="7991856"/>
            <a:ext cx="1389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[2] Kerzner, H. (2022). Project Management: A Systems Approach, 13th ed. Wiley, p. 133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13898880" cy="804672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02336"/>
            <a:ext cx="1353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4 &amp; 5 — INTEGRATED RISK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353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Risk Management Embedded in Organisation &amp; Milestones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16736"/>
            <a:ext cx="1389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management is not a separate workstream — it is embedded in the gate criteria at every milestone and in the RACI at every organisational level.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603504" cy="402336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8288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1828800"/>
            <a:ext cx="2596896" cy="402336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82880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39312" y="1828800"/>
            <a:ext cx="4370832" cy="402336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182880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6199632" cy="402336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1584" y="1828800"/>
            <a:ext cx="6144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PM Response (Gate / RACI Action)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603504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249424"/>
            <a:ext cx="2596896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9312" y="2249424"/>
            <a:ext cx="4370832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249424"/>
            <a:ext cx="6199632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50592"/>
            <a:ext cx="420624" cy="658368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50592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8992" y="2340864"/>
            <a:ext cx="250545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Strong Matrix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12464" y="2322576"/>
            <a:ext cx="42793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30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ambiguity &amp; dual reporting conflicts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19872" y="2322576"/>
            <a:ext cx="60899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RACI matrix defines decision rights; escalation path to Steering Committee (Davis &amp; Lawrence, 1977) [5]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310128"/>
            <a:ext cx="603504" cy="1060704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310128"/>
            <a:ext cx="2596896" cy="1060704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9312" y="3310128"/>
            <a:ext cx="4370832" cy="1060704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310128"/>
            <a:ext cx="6199632" cy="1060704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511296"/>
            <a:ext cx="420624" cy="658368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11296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8992" y="3401568"/>
            <a:ext cx="250545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12464" y="3383280"/>
            <a:ext cx="42793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30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Decisions contradicted across DB FZI / DB Systel / Vendors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19872" y="3383280"/>
            <a:ext cx="60899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Committee with formal mandate; bi-weekly review; ad-hoc escalation protocol [1]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370832"/>
            <a:ext cx="603504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4370832"/>
            <a:ext cx="2596896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39312" y="4370832"/>
            <a:ext cx="4370832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4370832"/>
            <a:ext cx="6199632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572000"/>
            <a:ext cx="420624" cy="658368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72000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78992" y="4462272"/>
            <a:ext cx="250545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Gate M0–M1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12464" y="4443984"/>
            <a:ext cx="42793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30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 interface surprises — 100 heterogeneous systems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119872" y="4443984"/>
            <a:ext cx="60899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 M1 requires OPC-UA vendor contracts signed before Phase 1 authorised; Interface Catalogue v1 [9]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5431536"/>
            <a:ext cx="603504" cy="1060704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5840" y="5431536"/>
            <a:ext cx="2596896" cy="1060704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39312" y="5431536"/>
            <a:ext cx="4370832" cy="1060704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0" y="5431536"/>
            <a:ext cx="6199632" cy="1060704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5632704"/>
            <a:ext cx="420624" cy="658368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632704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Q5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78992" y="5522976"/>
            <a:ext cx="250545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Gate M2–M3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712464" y="5504688"/>
            <a:ext cx="42793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30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Council escalation on data usage levels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119872" y="5504688"/>
            <a:ext cx="60899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 M3 requires Works Council formal sign-off before Scale-Up authorised [8]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" y="6492240"/>
            <a:ext cx="603504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05840" y="6492240"/>
            <a:ext cx="2596896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39312" y="6492240"/>
            <a:ext cx="4370832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46720" y="6492240"/>
            <a:ext cx="6199632" cy="1060704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6693408"/>
            <a:ext cx="420624" cy="658368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6693408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78992" y="6583680"/>
            <a:ext cx="250545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Gate M4–M5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712464" y="6565392"/>
            <a:ext cx="427939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30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Construction delays blocking system access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119872" y="6565392"/>
            <a:ext cx="608990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4–6 week buffer at each phase transition; Gate M4 held if access not confirmed [2]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65760" y="7699248"/>
            <a:ext cx="13898880" cy="329184"/>
          </a:xfrm>
          <a:prstGeom prst="rect">
            <a:avLst/>
          </a:prstGeom>
          <a:solidFill>
            <a:srgbClr val="FCE2CF">
              <a:alpha val="80000"/>
            </a:srgbClr>
          </a:solidFill>
          <a:ln w="12700">
            <a:solidFill>
              <a:srgbClr val="E2C8B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7699248"/>
            <a:ext cx="64008" cy="329184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" y="7699248"/>
            <a:ext cx="1362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stage-gate review is simultaneously a risk review — risk management is embedded at both organisational and milestone level.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5029200"/>
            <a:ext cx="4572000" cy="4572000"/>
          </a:xfrm>
          <a:prstGeom prst="ellipse">
            <a:avLst/>
          </a:prstGeom>
          <a:solidFill>
            <a:srgbClr val="BD3022">
              <a:alpha val="75000"/>
            </a:srgbClr>
          </a:solidFill>
          <a:ln w="12700">
            <a:solidFill>
              <a:srgbClr val="BD3022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84048"/>
            <a:ext cx="7772400" cy="7424928"/>
          </a:xfrm>
          <a:prstGeom prst="rect">
            <a:avLst/>
          </a:prstGeom>
          <a:solidFill>
            <a:srgbClr val="243539"/>
          </a:solidFill>
          <a:ln w="12700">
            <a:solidFill>
              <a:srgbClr val="2435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84048"/>
            <a:ext cx="7772400" cy="54864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7548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38912" cy="438912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426464"/>
            <a:ext cx="6803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Strong Matrix Organisation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865376"/>
            <a:ext cx="6803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strong matrix with three dedicated workstreams provides the authority, accountability, and resource control required for a 50-subproject, 16-month programme.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438912" cy="438912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889504"/>
            <a:ext cx="6803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Stage-Gate® Milestones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328416"/>
            <a:ext cx="6803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gate-controlled milestones (M0–M5) enforce deliverable-based progress — no phase advances without Steering Committee sign-off, embedding risk management into governance.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438912" cy="438912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4352544"/>
            <a:ext cx="6803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Hybrid Rollout — Tier by Tier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791456"/>
            <a:ext cx="6803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Safety-critical Tier 1 systems connect first (Pilot), followed by OEE-impact Tier 2, and standard Tier 3 — balancing compliance, value, and construction sequencing.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852160"/>
            <a:ext cx="438912" cy="438912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852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5815584"/>
            <a:ext cx="6803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Risk Is Embedded — Not Separate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6254496"/>
            <a:ext cx="6803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RACI, escalation paths, and gate criteria together ensure risk management is structural, not procedural — integrated at every organisational layer and milestone gate.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0" y="384048"/>
            <a:ext cx="5852160" cy="7424928"/>
          </a:xfrm>
          <a:prstGeom prst="rect">
            <a:avLst/>
          </a:prstGeom>
          <a:solidFill>
            <a:srgbClr val="182A2E"/>
          </a:solidFill>
          <a:ln w="12700">
            <a:solidFill>
              <a:srgbClr val="182A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384048"/>
            <a:ext cx="5852160" cy="54864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77072" y="4754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77072" y="96926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[1]  PMI. (2021). PMBOK® Guide — A Guide to the Project Management Body of Knowledge, 7th ed. Project Management Institute. pp. 52, 160, 245.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77072" y="175564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[2]  Kerzner, H. (2022). Project Management: A Systems Approach to Planning, Scheduling, and Controlling, 13th ed. Wiley. pp. 24, 108, 133.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77072" y="254203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[4]  Galbraith, J. R. (1971). Matrix Organization Designs: How to Combine Functional and Project Forms. Business Horizons, 14(1), 29–40.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77072" y="3328416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[5]  Davis, S. M., &amp; Lawrence, P. R. (1977). Matrix. Addison-Wesley. pp. 131, 134.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77072" y="411480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[7]  Turner, J. R., &amp; Cochrane, R. A. (1993). Goals-and-methods matrix: Coping with projects with ill defined goals and/or methods of achieving them. International Journal of Project Management, 11(2), 93–102.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77072" y="490118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[8]  Miranda, E. (2019). Milestone Planning. PM World Journal, VIII(XI). Citing Andersen, E. S., Grude, K. V., &amp; Haug, T. (2009).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577072" y="568756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[9]  Cooper, R. G. (1990). Stage-gate systems: A new tool for managing new products. Business Horizons, 33(3), 44–54.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577072" y="647395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[10] Cooper, R. G. (2008). The Stage-Gate® Idea-to-Launch Process — Update, What's New, and NexGen Systems. Journal of Product Innovation Management, 25(3), 213–232.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7808976"/>
            <a:ext cx="14630400" cy="420624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7808976"/>
            <a:ext cx="1463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 FZI — MDA Project  ·  New Cottbus Plant  ·  Target: June 2027 SoP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2026-03-05T08:03:14Z</dcterms:created>
  <dcterms:modified xsi:type="dcterms:W3CDTF">2026-03-05T08:03:14Z</dcterms:modified>
</cp:coreProperties>
</file>