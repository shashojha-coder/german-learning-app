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86500" y="-1143000"/>
            <a:ext cx="3714750" cy="3714750"/>
          </a:xfrm>
          <a:prstGeom prst="ellipse">
            <a:avLst/>
          </a:prstGeom>
          <a:solidFill>
            <a:srgbClr val="D73729">
              <a:alpha val="90000"/>
            </a:srgbClr>
          </a:solidFill>
          <a:ln w="12700">
            <a:solidFill>
              <a:srgbClr val="D73729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0" y="114300"/>
            <a:ext cx="2400300" cy="2400300"/>
          </a:xfrm>
          <a:prstGeom prst="ellipse">
            <a:avLst/>
          </a:prstGeom>
          <a:solidFill>
            <a:srgbClr val="BD3022">
              <a:alpha val="80000"/>
            </a:srgbClr>
          </a:solidFill>
          <a:ln w="12700">
            <a:solidFill>
              <a:srgbClr val="BD3022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14350" y="828675"/>
            <a:ext cx="51435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5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4 &amp;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4350" y="1114425"/>
            <a:ext cx="6000750" cy="2171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 Management</a:t>
            </a:r>
            <a:endParaRPr lang="en-US" sz="5200" dirty="0"/>
          </a:p>
          <a:p>
            <a:pPr indent="0" marL="0">
              <a:buNone/>
            </a:pPr>
            <a:r>
              <a:rPr lang="en-US" sz="32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Organisation</a:t>
            </a:r>
            <a:endParaRPr lang="en-US" sz="5200" dirty="0"/>
          </a:p>
          <a:p>
            <a:pPr indent="0" marL="0">
              <a:buNone/>
            </a:pPr>
            <a:r>
              <a:rPr lang="en-US" sz="32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&amp; Milestones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14350" y="3343275"/>
            <a:ext cx="5715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2" i="1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Framework Applied to the MDA — New Cottbus Plant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4350" y="3691890"/>
            <a:ext cx="3200400" cy="28575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14350" y="3691890"/>
            <a:ext cx="320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PMBOK® · Kerzner · Cooper · Turner &amp; Cochrane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34890"/>
            <a:ext cx="9144000" cy="30861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0" y="4834890"/>
            <a:ext cx="9144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 FZI — MDA Project  ·  New Cottbus Plant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40030"/>
            <a:ext cx="8686800" cy="5029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42900" y="251460"/>
            <a:ext cx="8458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1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4 — RECOMMENDED STRUCTURE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2900" y="3886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Strong Matrix Organisation for the MDA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11530"/>
            <a:ext cx="8686800" cy="297180"/>
          </a:xfrm>
          <a:prstGeom prst="rect">
            <a:avLst/>
          </a:prstGeom>
          <a:solidFill>
            <a:srgbClr val="FCE2CF">
              <a:alpha val="80000"/>
            </a:srgbClr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31470" y="822960"/>
            <a:ext cx="85153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i="1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Kerzner (2022, p. 108): Matrix is preferred when (a) interdisciplinary teamwork is required, (b) resources are shared across projects, and (c) one PM must be accountable for delivery. All three apply here.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14650" y="1200150"/>
            <a:ext cx="3314700" cy="46863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14650" y="1211580"/>
            <a:ext cx="3314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93" b="1" spc="15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STEERING COMMITTEE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14650" y="1383030"/>
            <a:ext cx="33147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Sponsor · DB Systel Director · Works Council Rep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668780"/>
            <a:ext cx="0" cy="217170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028950" y="1885950"/>
            <a:ext cx="3086100" cy="42291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28950" y="1897380"/>
            <a:ext cx="3086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93" b="1" spc="150" kern="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MDA PROJECT MANAGER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28950" y="2068830"/>
            <a:ext cx="30861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Systel · Strong Matrix Authority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28700" y="2308860"/>
            <a:ext cx="7086600" cy="0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28700" y="2308860"/>
            <a:ext cx="0" cy="148590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0" y="2308860"/>
            <a:ext cx="0" cy="148590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15300" y="2308860"/>
            <a:ext cx="0" cy="148590"/>
          </a:xfrm>
          <a:prstGeom prst="line">
            <a:avLst/>
          </a:prstGeom>
          <a:noFill/>
          <a:ln w="12700">
            <a:solidFill>
              <a:srgbClr val="2B2E3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28600" y="2457450"/>
            <a:ext cx="2743200" cy="250317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8600" y="2457450"/>
            <a:ext cx="2743200" cy="28575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7180" y="2463165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7180" y="281178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MDA system design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97180" y="329184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OPC-UA / protocol standards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97180" y="377190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gateway config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7180" y="425196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 integration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0" y="2457450"/>
            <a:ext cx="2743200" cy="250317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00400" y="2457450"/>
            <a:ext cx="2743200" cy="28575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68980" y="2463165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 Integration &amp; PMO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8980" y="281178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Master schedule &amp; risk register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68980" y="329184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to Steering Committee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68980" y="377190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control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68980" y="425196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tracking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457450"/>
            <a:ext cx="2743200" cy="250317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172200" y="2457450"/>
            <a:ext cx="2743200" cy="285750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40780" y="2463165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Stakeholder &amp; Compliance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40780" y="281178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Council liaison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40780" y="329184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DSGVO / BDSG compliance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240780" y="377190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Staff communication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40780" y="4251960"/>
            <a:ext cx="2606040" cy="42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readiness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28600" y="4994910"/>
            <a:ext cx="8686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1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 PMI (2021). PMBOK® Guide, 7th ed., p. 160  ·  [2] Kerzner, H. (2022). Project Management, 13th ed., Wiley, p. 108  ·  [4] Galbraith (1971). Business Horizons, 14(1), 29–40  ·  [5] Davis &amp; Lawrence (1977). Matrix, Addison-Wesley, p. 131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40030"/>
            <a:ext cx="8686800" cy="5029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42900" y="251460"/>
            <a:ext cx="8458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1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4 — GOVERNANCE &amp; 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2900" y="3886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Matrix Risk, RACI Framework &amp; Mitigations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11530"/>
            <a:ext cx="3886200" cy="413766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8600" y="811530"/>
            <a:ext cx="3886200" cy="28575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817245"/>
            <a:ext cx="37147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6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⚠  THE RISK: DUAL REPORTING CONFLICT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154430"/>
            <a:ext cx="3714750" cy="3726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academic literature consistently identifies role ambiguity as the primary weakness of matrix structures.
</a:t>
            </a:r>
            <a:pPr indent="0" marL="0">
              <a:buNone/>
            </a:pPr>
            <a:r>
              <a:rPr lang="en-US" sz="7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Galbraith (1971) [4] and Davis &amp; Lawrence (1977, p. 134) [5] observe that employees facing conflicting instructions from both a PM and a functional manager experience stress and reduced productivity.
</a:t>
            </a:r>
            <a:pPr indent="0" marL="0">
              <a:buNone/>
            </a:pPr>
            <a:r>
              <a:rPr lang="en-US" sz="750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the MDA project: DB Systel engineers working across 50 subprojects may deprioritise MDA tasks in favour of functional department demands.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86250" y="811530"/>
            <a:ext cx="4629150" cy="413766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86250" y="811530"/>
            <a:ext cx="4629150" cy="28575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377690" y="817245"/>
            <a:ext cx="4457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6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✓  RACI &amp; MITIGATIONS FOR MDA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1970" y="1154430"/>
            <a:ext cx="777240" cy="2171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54830" y="1154430"/>
            <a:ext cx="75438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32070" y="1154430"/>
            <a:ext cx="777240" cy="2171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154930" y="1154430"/>
            <a:ext cx="75438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Responsible (R)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32170" y="1154430"/>
            <a:ext cx="777240" cy="2171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55030" y="1154430"/>
            <a:ext cx="75438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Accountable (A)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32270" y="1154430"/>
            <a:ext cx="777240" cy="2171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55130" y="1154430"/>
            <a:ext cx="75438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Consulted (C)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532370" y="1154430"/>
            <a:ext cx="1211580" cy="2171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555230" y="1154430"/>
            <a:ext cx="118872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Informed (I)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31970" y="1383030"/>
            <a:ext cx="77724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54830" y="140589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PM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32070" y="1383030"/>
            <a:ext cx="77724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154930" y="140589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MDA deliverables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32170" y="1383030"/>
            <a:ext cx="77724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955030" y="140589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&amp; budget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32270" y="1383030"/>
            <a:ext cx="77724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755130" y="140589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Systel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32370" y="1383030"/>
            <a:ext cx="121158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555230" y="1405890"/>
            <a:ext cx="116586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Sponsor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31970" y="1703070"/>
            <a:ext cx="77724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354830" y="172593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Systel Eng.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32070" y="1703070"/>
            <a:ext cx="77724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154930" y="172593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integration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32170" y="1703070"/>
            <a:ext cx="77724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55030" y="172593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PM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32270" y="1703070"/>
            <a:ext cx="77724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755130" y="172593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32370" y="1703070"/>
            <a:ext cx="121158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555230" y="1725930"/>
            <a:ext cx="116586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Council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31970" y="2023110"/>
            <a:ext cx="77724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354830" y="204597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Council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32070" y="2023110"/>
            <a:ext cx="77724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154930" y="204597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32170" y="2023110"/>
            <a:ext cx="77724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955030" y="204597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usage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32270" y="2023110"/>
            <a:ext cx="77724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55130" y="204597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PM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32370" y="2023110"/>
            <a:ext cx="1211580" cy="30861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555230" y="2045970"/>
            <a:ext cx="116586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Cmte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331970" y="2343150"/>
            <a:ext cx="77724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354830" y="236601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132070" y="2343150"/>
            <a:ext cx="77724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154930" y="236601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OPC-UA connect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932170" y="2343150"/>
            <a:ext cx="77724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955030" y="236601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 PM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732270" y="2343150"/>
            <a:ext cx="77724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6755130" y="2366010"/>
            <a:ext cx="731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Systel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532370" y="2343150"/>
            <a:ext cx="1211580" cy="30861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555230" y="2366010"/>
            <a:ext cx="116586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331970" y="2743200"/>
            <a:ext cx="262890" cy="26289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4331970" y="2743200"/>
            <a:ext cx="26289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652010" y="2708910"/>
            <a:ext cx="4160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Escalation Paths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652010" y="2994660"/>
            <a:ext cx="41605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Formal escalation to Steering Committee for resource conflicts — PM authority is backed by governance.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331970" y="3463290"/>
            <a:ext cx="262890" cy="26289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4331970" y="3463290"/>
            <a:ext cx="26289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652010" y="3429000"/>
            <a:ext cx="4160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Contractual Delineation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4652010" y="3714750"/>
            <a:ext cx="41605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DB FZI / DB Systel / Vendor responsibilities defined in the partnership agreement.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331970" y="4183380"/>
            <a:ext cx="262890" cy="26289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4331970" y="4183380"/>
            <a:ext cx="26289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4652010" y="4149090"/>
            <a:ext cx="416052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Bi-weekly Risk Review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4652010" y="4434840"/>
            <a:ext cx="416052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RACI reviewed every sprint; red-rated items escalated immediately to programme level.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28600" y="4994910"/>
            <a:ext cx="8686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1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[4] Galbraith (1971). Business Horizons, 14(1), 29–40  ·  [5] Davis &amp; Lawrence (1977). Matrix, Addison-Wesley, p. 134  ·  RACI: Project Management Institute (2021). PMBOK® Guide, 7th ed., p. 160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40030"/>
            <a:ext cx="8686800" cy="5029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42900" y="251460"/>
            <a:ext cx="8458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1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5 — ACADEMIC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2900" y="3886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Milestones &amp; Stage-Gate®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11530"/>
            <a:ext cx="4229100" cy="413766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8600" y="811530"/>
            <a:ext cx="4229100" cy="28575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817245"/>
            <a:ext cx="40576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IS A MILESTONE?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8610" y="1165860"/>
            <a:ext cx="4069080" cy="46863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88620" y="1177290"/>
            <a:ext cx="392049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2" b="1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PMBOK® Guide (7th ed., p. 245):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" y="1325880"/>
            <a:ext cx="3920490" cy="285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18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milestone is a significant point or event in a project, programme, or portfolio."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610" y="1737360"/>
            <a:ext cx="4069080" cy="98298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08610" y="1737360"/>
            <a:ext cx="4069080" cy="25146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8620" y="1743075"/>
            <a:ext cx="39204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Zero Duration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" y="2023110"/>
            <a:ext cx="392049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Milestones mark a state, not an activity — they have no duration.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687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Kerzner (2022, p. 24) [2]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8610" y="2800350"/>
            <a:ext cx="4069080" cy="98298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08610" y="2800350"/>
            <a:ext cx="4069080" cy="25146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88620" y="2806065"/>
            <a:ext cx="39204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Outcome State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8620" y="3086100"/>
            <a:ext cx="392049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Turner &amp; Cochrane (1993, p. 94) [7]: Plan around what must be achieved, not how to achieve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8610" y="3863340"/>
            <a:ext cx="4069080" cy="98298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08610" y="3863340"/>
            <a:ext cx="4069080" cy="251460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8620" y="3869055"/>
            <a:ext cx="392049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Participatory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8620" y="4149090"/>
            <a:ext cx="3920490" cy="651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Andersen et al. (2009) [8]: Milestones built with the team increase commitment — critical given Works Council.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29150" y="811530"/>
            <a:ext cx="4286250" cy="413766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629150" y="811530"/>
            <a:ext cx="4286250" cy="28575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720590" y="817245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STAGE-GATE® MODEL — COOPER (1990, 2008)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97730" y="1165860"/>
            <a:ext cx="4137660" cy="40005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77740" y="1177290"/>
            <a:ext cx="400050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conceptual and operational road map…dividing the effort into distinct stages separated by management decision gates."  — Cooper (1990, p. 44) [9]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97730" y="1657350"/>
            <a:ext cx="971550" cy="4457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697730" y="1657350"/>
            <a:ext cx="97155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 0</a:t>
            </a:r>
            <a:endParaRPr lang="en-US" sz="900" dirty="0"/>
          </a:p>
          <a:p>
            <a:pPr algn="ctr" indent="0" marL="0">
              <a:buNone/>
            </a:pPr>
            <a:r>
              <a:rPr lang="en-US" sz="56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0" y="1840230"/>
            <a:ext cx="68580" cy="57150"/>
          </a:xfrm>
          <a:prstGeom prst="rect">
            <a:avLst/>
          </a:prstGeom>
          <a:solidFill>
            <a:srgbClr val="E2C8B5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rot="2700000">
            <a:off x="5406390" y="2205990"/>
            <a:ext cx="274320" cy="274320"/>
          </a:xfrm>
          <a:prstGeom prst="rect">
            <a:avLst/>
          </a:prstGeom>
          <a:solidFill>
            <a:srgbClr val="2B2E3C"/>
          </a:solidFill>
          <a:ln w="12700">
            <a:solidFill>
              <a:srgbClr val="2B2E3C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360670" y="220599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737860" y="1657350"/>
            <a:ext cx="971550" cy="4457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737860" y="1657350"/>
            <a:ext cx="97155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 1</a:t>
            </a:r>
            <a:endParaRPr lang="en-US" sz="900" dirty="0"/>
          </a:p>
          <a:p>
            <a:pPr algn="ctr" indent="0" marL="0">
              <a:buNone/>
            </a:pPr>
            <a:r>
              <a:rPr lang="en-US" sz="56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Pilot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09410" y="1840230"/>
            <a:ext cx="68580" cy="57150"/>
          </a:xfrm>
          <a:prstGeom prst="rect">
            <a:avLst/>
          </a:prstGeom>
          <a:solidFill>
            <a:srgbClr val="E2C8B5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rot="2700000">
            <a:off x="6446520" y="2205990"/>
            <a:ext cx="274320" cy="274320"/>
          </a:xfrm>
          <a:prstGeom prst="rect">
            <a:avLst/>
          </a:prstGeom>
          <a:solidFill>
            <a:srgbClr val="2B2E3C"/>
          </a:solidFill>
          <a:ln w="12700">
            <a:solidFill>
              <a:srgbClr val="2B2E3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00800" y="220599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777990" y="1657350"/>
            <a:ext cx="971550" cy="4457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777990" y="1657350"/>
            <a:ext cx="97155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 2</a:t>
            </a:r>
            <a:endParaRPr lang="en-US" sz="900" dirty="0"/>
          </a:p>
          <a:p>
            <a:pPr algn="ctr" indent="0" marL="0">
              <a:buNone/>
            </a:pPr>
            <a:r>
              <a:rPr lang="en-US" sz="56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Scale-Up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749540" y="1840230"/>
            <a:ext cx="68580" cy="57150"/>
          </a:xfrm>
          <a:prstGeom prst="rect">
            <a:avLst/>
          </a:prstGeom>
          <a:solidFill>
            <a:srgbClr val="E2C8B5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 rot="2700000">
            <a:off x="7486650" y="2205990"/>
            <a:ext cx="274320" cy="274320"/>
          </a:xfrm>
          <a:prstGeom prst="rect">
            <a:avLst/>
          </a:prstGeom>
          <a:solidFill>
            <a:srgbClr val="2B2E3C"/>
          </a:solidFill>
          <a:ln w="12700">
            <a:solidFill>
              <a:srgbClr val="2B2E3C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440930" y="220599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818120" y="1657350"/>
            <a:ext cx="971550" cy="4457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818120" y="1657350"/>
            <a:ext cx="97155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 3</a:t>
            </a:r>
            <a:endParaRPr lang="en-US" sz="900" dirty="0"/>
          </a:p>
          <a:p>
            <a:pPr algn="ctr" indent="0" marL="0">
              <a:buNone/>
            </a:pPr>
            <a:r>
              <a:rPr lang="en-US" sz="56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SoP Ready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595360" y="1657350"/>
            <a:ext cx="194310" cy="44577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595360" y="1657350"/>
            <a:ext cx="194310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6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SoP</a:t>
            </a:r>
            <a:endParaRPr lang="en-US" sz="650" dirty="0"/>
          </a:p>
          <a:p>
            <a:pPr algn="ctr" indent="0" marL="0">
              <a:buNone/>
            </a:pPr>
            <a:r>
              <a:rPr lang="en-US" sz="406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2027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 rot="2700000">
            <a:off x="8526780" y="2205990"/>
            <a:ext cx="274320" cy="274320"/>
          </a:xfrm>
          <a:prstGeom prst="rect">
            <a:avLst/>
          </a:prstGeom>
          <a:solidFill>
            <a:srgbClr val="2B2E3C"/>
          </a:solidFill>
          <a:ln w="12700">
            <a:solidFill>
              <a:srgbClr val="2B2E3C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481060" y="220599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G3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06840" y="1817370"/>
            <a:ext cx="80010" cy="12573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697730" y="2617470"/>
            <a:ext cx="4137660" cy="72009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697730" y="2617470"/>
            <a:ext cx="40005" cy="72009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4777740" y="264033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Go/No-Go Authority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777740" y="28803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Gates require Steering Committee sign-off before next phase is funded. Prevents scope creep across 50 sub-projects. [9]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697730" y="3406140"/>
            <a:ext cx="4137660" cy="72009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697730" y="3406140"/>
            <a:ext cx="40005" cy="72009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777740" y="342900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Deliverable-Based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777740" y="366903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Phases close only when outputs are achieved ('Interface Catalogue v1 approved'), not when time elapses. [9]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697730" y="4194810"/>
            <a:ext cx="4137660" cy="72009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4697730" y="4194810"/>
            <a:ext cx="40005" cy="72009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777740" y="421767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Risk Embedded by Design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777740" y="44577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Cooper (2008, p. 215): checkpoints "provide for project control and management." Gates surface risks early. [10]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228600" y="4994910"/>
            <a:ext cx="8686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1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[1] PMI (2021). PMBOK® Guide, 7th ed., p. 245  ·  [2] Kerzner (2022), p. 24  ·  [7] Turner &amp; Cochrane (1993). IJPM, 11(2), 93–102  ·  [8] Andersen et al. (2009)  ·  [9] Cooper (1990). Business Horizons, 33(3), 44–54  ·  [10] Cooper (2008). JPIM, 25(3), 213–232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40030"/>
            <a:ext cx="8686800" cy="5029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42900" y="251460"/>
            <a:ext cx="8458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1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5 — MILESTONES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2900" y="3886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Six Stage-Gate Milestones: MDA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80060" cy="25146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62890" y="822960"/>
            <a:ext cx="44577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22960"/>
            <a:ext cx="1691640" cy="25146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65810" y="822960"/>
            <a:ext cx="165735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46020" y="822960"/>
            <a:ext cx="3360420" cy="25146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80310" y="822960"/>
            <a:ext cx="332613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 Criteria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29300" y="822960"/>
            <a:ext cx="1303020" cy="25146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863590" y="822960"/>
            <a:ext cx="126873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Target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55180" y="822960"/>
            <a:ext cx="1760220" cy="25146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89470" y="822960"/>
            <a:ext cx="172593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Gatekeepers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085850"/>
            <a:ext cx="48006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1520" y="1085850"/>
            <a:ext cx="169164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446020" y="1085850"/>
            <a:ext cx="336042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829300" y="1085850"/>
            <a:ext cx="130302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155180" y="1085850"/>
            <a:ext cx="176022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28600" y="1085850"/>
            <a:ext cx="480060" cy="62865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28600" y="1085850"/>
            <a:ext cx="4800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1131570"/>
            <a:ext cx="1634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Project Initiated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91740" y="1120140"/>
            <a:ext cx="33032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inventory (100), data standards approved, Works Council informed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63590" y="1120140"/>
            <a:ext cx="12573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Q1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00900" y="1120140"/>
            <a:ext cx="17030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Sponsor · DB Systel PM · Works Council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1714500"/>
            <a:ext cx="48006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31520" y="1714500"/>
            <a:ext cx="169164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446020" y="1714500"/>
            <a:ext cx="336042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829300" y="1714500"/>
            <a:ext cx="130302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155180" y="1714500"/>
            <a:ext cx="176022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28600" y="1714500"/>
            <a:ext cx="480060" cy="62865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28600" y="1714500"/>
            <a:ext cx="4800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1760220"/>
            <a:ext cx="1634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Pilot Authorised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491740" y="1748790"/>
            <a:ext cx="33032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catalogue v1 approved; RACI signed; OPC-UA vendor contracts in place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63590" y="1748790"/>
            <a:ext cx="12573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Q2 2026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00900" y="1748790"/>
            <a:ext cx="17030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2343150"/>
            <a:ext cx="48006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31520" y="2343150"/>
            <a:ext cx="169164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446020" y="2343150"/>
            <a:ext cx="336042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829300" y="2343150"/>
            <a:ext cx="130302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155180" y="2343150"/>
            <a:ext cx="176022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28600" y="2343150"/>
            <a:ext cx="480060" cy="62865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28600" y="2343150"/>
            <a:ext cx="4800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" y="2388870"/>
            <a:ext cx="1634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MDA Level 1 Live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491740" y="2377440"/>
            <a:ext cx="33032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≥15 Tier 1 systems live; OEE dashboard operational; Blueprint v1 published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63590" y="2377440"/>
            <a:ext cx="12573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Q4 2026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00900" y="2377440"/>
            <a:ext cx="17030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PM · DB Systel Architect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" y="2971800"/>
            <a:ext cx="48006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31520" y="2971800"/>
            <a:ext cx="169164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2446020" y="2971800"/>
            <a:ext cx="336042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829300" y="2971800"/>
            <a:ext cx="130302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155180" y="2971800"/>
            <a:ext cx="1760220" cy="62865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228600" y="2971800"/>
            <a:ext cx="480060" cy="62865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28600" y="2971800"/>
            <a:ext cx="4800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77240" y="3017520"/>
            <a:ext cx="1634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Scale-Up Authorised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491740" y="3006090"/>
            <a:ext cx="33032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critical defects open; Works Council sign-off on data usage framework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63590" y="3006090"/>
            <a:ext cx="12573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Q1 2027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200900" y="3006090"/>
            <a:ext cx="17030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28600" y="3600450"/>
            <a:ext cx="48006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731520" y="3600450"/>
            <a:ext cx="169164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2446020" y="3600450"/>
            <a:ext cx="336042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5829300" y="3600450"/>
            <a:ext cx="130302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7155180" y="3600450"/>
            <a:ext cx="1760220" cy="6286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228600" y="3600450"/>
            <a:ext cx="480060" cy="62865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228600" y="3600450"/>
            <a:ext cx="4800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M4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77240" y="3646170"/>
            <a:ext cx="1634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MDA Level 2 Live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2491740" y="3634740"/>
            <a:ext cx="33032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100% systems connected; SAP-PM integration tested; training approved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863590" y="3634740"/>
            <a:ext cx="12573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 May 2027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200900" y="3634740"/>
            <a:ext cx="17030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FZI Sponsor · DB Systel PM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28600" y="4229100"/>
            <a:ext cx="480060" cy="62865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731520" y="4229100"/>
            <a:ext cx="1691640" cy="62865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2446020" y="4229100"/>
            <a:ext cx="3360420" cy="62865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5829300" y="4229100"/>
            <a:ext cx="1303020" cy="62865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7155180" y="4229100"/>
            <a:ext cx="1760220" cy="628650"/>
          </a:xfrm>
          <a:prstGeom prst="rect">
            <a:avLst/>
          </a:prstGeom>
          <a:solidFill>
            <a:srgbClr val="FFF2CC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228600" y="4229100"/>
            <a:ext cx="480060" cy="62865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228600" y="4229100"/>
            <a:ext cx="48006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M5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77240" y="4274820"/>
            <a:ext cx="16344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SoP Handover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2491740" y="4263390"/>
            <a:ext cx="33032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Acceptance test signed; staff trained; KPI dashboard live; Blueprint v2 delivered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5863590" y="4263390"/>
            <a:ext cx="12573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June 2027 ★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7200900" y="4263390"/>
            <a:ext cx="170307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5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 · DB FZI Board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228600" y="4994910"/>
            <a:ext cx="8686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1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[7] Turner &amp; Cochrane (1993). IJPM, 11(2), 93–102  ·  [9] Cooper (1990). Business Horizons, 33(3), 44–54, p. 47  ·  ★ Politically binding SoP date per DB FZI mandate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40030"/>
            <a:ext cx="8686800" cy="5029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42900" y="251460"/>
            <a:ext cx="8458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1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ROLLOUT GANTT CHART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2900" y="3886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Tier-by-Tier Schedule: Q1 2026 → June 2027 SoP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000250" y="822960"/>
            <a:ext cx="34575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00250" y="822960"/>
            <a:ext cx="34575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2" b="1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57825" y="822960"/>
            <a:ext cx="34575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57825" y="822960"/>
            <a:ext cx="34575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2" b="1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2027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00250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00250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384425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384425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Feb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68600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68600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52775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152775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36950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536950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921125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921125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305300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305300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89475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89475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73650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73650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57825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57825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842000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842000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Nov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226175" y="982980"/>
            <a:ext cx="384175" cy="1600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26175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610350" y="982980"/>
            <a:ext cx="384175" cy="160020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610350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Jan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994525" y="982980"/>
            <a:ext cx="384175" cy="160020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994525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Feb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378700" y="982980"/>
            <a:ext cx="384175" cy="160020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378700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762875" y="982980"/>
            <a:ext cx="384175" cy="160020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762875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147050" y="982980"/>
            <a:ext cx="384175" cy="160020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147050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531225" y="982980"/>
            <a:ext cx="384175" cy="160020"/>
          </a:xfrm>
          <a:prstGeom prst="rect">
            <a:avLst/>
          </a:prstGeom>
          <a:solidFill>
            <a:srgbClr val="1A2D30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531225" y="982980"/>
            <a:ext cx="3841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8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Jun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8600" y="822960"/>
            <a:ext cx="1748790" cy="32004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28600" y="822960"/>
            <a:ext cx="17487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5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Activity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8600" y="1143000"/>
            <a:ext cx="8686800" cy="28575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08610" y="114300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2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PHASE OVERVIEW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00250" y="1177290"/>
            <a:ext cx="1152525" cy="217170"/>
          </a:xfrm>
          <a:prstGeom prst="rect">
            <a:avLst/>
          </a:prstGeom>
          <a:solidFill>
            <a:srgbClr val="3D6B6F"/>
          </a:solidFill>
          <a:ln w="12700">
            <a:solidFill>
              <a:srgbClr val="3D6B6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2028825" y="1177290"/>
            <a:ext cx="11239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0: Foundation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152775" y="1177290"/>
            <a:ext cx="2305050" cy="21717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181350" y="1177290"/>
            <a:ext cx="2276475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1: Pilot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457825" y="1177290"/>
            <a:ext cx="2305050" cy="217170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486400" y="1177290"/>
            <a:ext cx="2276475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2: Scale-Up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762875" y="1177290"/>
            <a:ext cx="1152525" cy="217170"/>
          </a:xfrm>
          <a:prstGeom prst="rect">
            <a:avLst/>
          </a:prstGeom>
          <a:solidFill>
            <a:srgbClr val="7F1F17"/>
          </a:solidFill>
          <a:ln w="12700">
            <a:solidFill>
              <a:srgbClr val="7F1F17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791450" y="1177290"/>
            <a:ext cx="11239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3: SoP Ready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28600" y="1428750"/>
            <a:ext cx="8686800" cy="28575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308610" y="1428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2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TIER 1 — SAFETY-CRITICAL  (~15–20 systems)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28600" y="1714500"/>
            <a:ext cx="1748790" cy="2857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262890" y="1714500"/>
            <a:ext cx="168021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Wheel Lathes (2–3)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152775" y="1748790"/>
            <a:ext cx="768350" cy="21717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181350" y="1748790"/>
            <a:ext cx="739775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921125" y="1748790"/>
            <a:ext cx="768350" cy="21717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3949700" y="1748790"/>
            <a:ext cx="739775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28600" y="2000250"/>
            <a:ext cx="1748790" cy="2857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262890" y="2000250"/>
            <a:ext cx="168021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Lifting Systems (4–5)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152775" y="2034540"/>
            <a:ext cx="1152525" cy="21717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181350" y="2034540"/>
            <a:ext cx="11239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305300" y="2034540"/>
            <a:ext cx="1152525" cy="21717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4333875" y="2034540"/>
            <a:ext cx="11239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28600" y="2286000"/>
            <a:ext cx="1748790" cy="2857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262890" y="2286000"/>
            <a:ext cx="168021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Brake Test Rigs (3–4)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536950" y="2320290"/>
            <a:ext cx="1152525" cy="21717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3565525" y="2320290"/>
            <a:ext cx="11239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689475" y="2320290"/>
            <a:ext cx="768350" cy="21717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4718050" y="2320290"/>
            <a:ext cx="739775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28600" y="2571750"/>
            <a:ext cx="8686800" cy="28575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308610" y="2571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2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TIER 2 — OEE IMPACT  (~50 systems)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28600" y="2857500"/>
            <a:ext cx="1748790" cy="2857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80" name="Text 78"/>
          <p:cNvSpPr/>
          <p:nvPr/>
        </p:nvSpPr>
        <p:spPr>
          <a:xfrm>
            <a:off x="262890" y="2857500"/>
            <a:ext cx="168021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CNC Machines (~12)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305300" y="2891790"/>
            <a:ext cx="1152525" cy="217170"/>
          </a:xfrm>
          <a:prstGeom prst="rect">
            <a:avLst/>
          </a:prstGeom>
          <a:solidFill>
            <a:srgbClr val="BD5030"/>
          </a:solidFill>
          <a:ln w="12700">
            <a:solidFill>
              <a:srgbClr val="BD5030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4333875" y="2891790"/>
            <a:ext cx="11239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5457825" y="2891790"/>
            <a:ext cx="1152525" cy="21717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486400" y="2891790"/>
            <a:ext cx="11239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28600" y="3143250"/>
            <a:ext cx="1748790" cy="2857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262890" y="3143250"/>
            <a:ext cx="168021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Welding / Compressors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689475" y="3177540"/>
            <a:ext cx="1152525" cy="217170"/>
          </a:xfrm>
          <a:prstGeom prst="rect">
            <a:avLst/>
          </a:prstGeom>
          <a:solidFill>
            <a:srgbClr val="BD5030"/>
          </a:solidFill>
          <a:ln w="12700">
            <a:solidFill>
              <a:srgbClr val="BD5030"/>
            </a:solidFill>
            <a:prstDash val="solid"/>
          </a:ln>
        </p:spPr>
        <p:txBody>
          <a:bodyPr/>
          <a:p/>
        </p:txBody>
      </p:sp>
      <p:sp>
        <p:nvSpPr>
          <p:cNvPr id="88" name="Text 86"/>
          <p:cNvSpPr/>
          <p:nvPr/>
        </p:nvSpPr>
        <p:spPr>
          <a:xfrm>
            <a:off x="4718050" y="3177540"/>
            <a:ext cx="11239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842000" y="3177540"/>
            <a:ext cx="1536700" cy="21717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5870575" y="3177540"/>
            <a:ext cx="1508125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28600" y="3429000"/>
            <a:ext cx="8686800" cy="28575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92" name="Text 90"/>
          <p:cNvSpPr/>
          <p:nvPr/>
        </p:nvSpPr>
        <p:spPr>
          <a:xfrm>
            <a:off x="308610" y="342900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2" b="1" spc="100" kern="0" dirty="0">
                <a:solidFill>
                  <a:srgbClr val="E2C8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TIER 3 — STANDARD  (~30–35 systems)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28600" y="3714750"/>
            <a:ext cx="1748790" cy="28575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262890" y="3714750"/>
            <a:ext cx="168021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Workshop / Auxiliary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457825" y="3749040"/>
            <a:ext cx="1536700" cy="217170"/>
          </a:xfrm>
          <a:prstGeom prst="rect">
            <a:avLst/>
          </a:prstGeom>
          <a:solidFill>
            <a:srgbClr val="7F4F35"/>
          </a:solidFill>
          <a:ln w="12700">
            <a:solidFill>
              <a:srgbClr val="7F4F35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5486400" y="3749040"/>
            <a:ext cx="1508125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994525" y="3749040"/>
            <a:ext cx="1536700" cy="217170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  <p:txBody>
          <a:bodyPr/>
          <a:p/>
        </p:txBody>
      </p:sp>
      <p:sp>
        <p:nvSpPr>
          <p:cNvPr id="98" name="Text 96"/>
          <p:cNvSpPr/>
          <p:nvPr/>
        </p:nvSpPr>
        <p:spPr>
          <a:xfrm>
            <a:off x="7023100" y="3749040"/>
            <a:ext cx="1508125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8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762875" y="982980"/>
            <a:ext cx="22860" cy="3017520"/>
          </a:xfrm>
          <a:prstGeom prst="rect">
            <a:avLst/>
          </a:prstGeom>
          <a:solidFill>
            <a:srgbClr val="F59700"/>
          </a:solidFill>
          <a:ln w="12700">
            <a:solidFill>
              <a:srgbClr val="F59700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7591425" y="982980"/>
            <a:ext cx="457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1" b="1" dirty="0">
                <a:solidFill>
                  <a:srgbClr val="D73729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★ SoP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228600" y="4926330"/>
            <a:ext cx="160020" cy="102870"/>
          </a:xfrm>
          <a:prstGeom prst="rect">
            <a:avLst/>
          </a:prstGeom>
          <a:solidFill>
            <a:srgbClr val="3D6B6F"/>
          </a:solidFill>
          <a:ln w="12700">
            <a:solidFill>
              <a:srgbClr val="3D6B6F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411480" y="4926330"/>
            <a:ext cx="91440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0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1371600" y="4926330"/>
            <a:ext cx="160020" cy="10287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104" name="Text 102"/>
          <p:cNvSpPr/>
          <p:nvPr/>
        </p:nvSpPr>
        <p:spPr>
          <a:xfrm>
            <a:off x="1554480" y="4926330"/>
            <a:ext cx="91440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1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2514600" y="4926330"/>
            <a:ext cx="160020" cy="102870"/>
          </a:xfrm>
          <a:prstGeom prst="rect">
            <a:avLst/>
          </a:prstGeom>
          <a:solidFill>
            <a:srgbClr val="AF2C20"/>
          </a:solidFill>
          <a:ln w="12700">
            <a:solidFill>
              <a:srgbClr val="AF2C20"/>
            </a:solidFill>
            <a:prstDash val="solid"/>
          </a:ln>
        </p:spPr>
        <p:txBody>
          <a:bodyPr/>
          <a:p/>
        </p:txBody>
      </p:sp>
      <p:sp>
        <p:nvSpPr>
          <p:cNvPr id="106" name="Text 104"/>
          <p:cNvSpPr/>
          <p:nvPr/>
        </p:nvSpPr>
        <p:spPr>
          <a:xfrm>
            <a:off x="2697480" y="4926330"/>
            <a:ext cx="91440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2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657600" y="4926330"/>
            <a:ext cx="160020" cy="102870"/>
          </a:xfrm>
          <a:prstGeom prst="rect">
            <a:avLst/>
          </a:prstGeom>
          <a:solidFill>
            <a:srgbClr val="7F1F17"/>
          </a:solidFill>
          <a:ln w="12700">
            <a:solidFill>
              <a:srgbClr val="7F1F17"/>
            </a:solidFill>
            <a:prstDash val="solid"/>
          </a:ln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3840480" y="4926330"/>
            <a:ext cx="91440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 3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4800600" y="4926330"/>
            <a:ext cx="160020" cy="102870"/>
          </a:xfrm>
          <a:prstGeom prst="rect">
            <a:avLst/>
          </a:prstGeom>
          <a:solidFill>
            <a:srgbClr val="BD5030"/>
          </a:solidFill>
          <a:ln w="12700">
            <a:solidFill>
              <a:srgbClr val="BD5030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4983480" y="4926330"/>
            <a:ext cx="91440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943600" y="4926330"/>
            <a:ext cx="160020" cy="10287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112" name="Text 110"/>
          <p:cNvSpPr/>
          <p:nvPr/>
        </p:nvSpPr>
        <p:spPr>
          <a:xfrm>
            <a:off x="6126480" y="4926330"/>
            <a:ext cx="91440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228600" y="4994910"/>
            <a:ext cx="8686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1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Source: DB FZI MDA Project Rollout Plan (2026)  ·  [9] Cooper (1990), p. 47: phase-gate scheduling  ·  4–6 week buffer embedded at each phase transition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40030"/>
            <a:ext cx="8686800" cy="5029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42900" y="251460"/>
            <a:ext cx="8458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1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5 — RECOMMENDED TOOLS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2900" y="3886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Hybrid Tool Approach: MS Project + Jira + Confluence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857500" cy="4114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28600" y="822960"/>
            <a:ext cx="2857500" cy="44577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08610" y="83439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Microsoft Project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8610" y="1074420"/>
            <a:ext cx="2697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/ Milestone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470" y="1394460"/>
            <a:ext cx="125730" cy="125730"/>
          </a:xfrm>
          <a:prstGeom prst="ellipse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14350" y="136017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Gantt chart with CPM for all 6 milestone gate dates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1470" y="2286000"/>
            <a:ext cx="125730" cy="125730"/>
          </a:xfrm>
          <a:prstGeom prst="ellipse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4350" y="225171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loading &amp; dependency mapping to construction programme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1470" y="3177540"/>
            <a:ext cx="125730" cy="125730"/>
          </a:xfrm>
          <a:prstGeom prst="ellipse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14350" y="314325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Kerzner (2022, p. 133): CPM standard for projects with hard external deadlines [2]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1470" y="4069080"/>
            <a:ext cx="125730" cy="125730"/>
          </a:xfrm>
          <a:prstGeom prst="ellipse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4350" y="403479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Audience: Steering Committee, DB FZI Sponsor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822960"/>
            <a:ext cx="2857500" cy="4114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200400" y="822960"/>
            <a:ext cx="2857500" cy="44577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80410" y="83439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Jira Premium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80410" y="1074420"/>
            <a:ext cx="2697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/ Sprint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03270" y="1394460"/>
            <a:ext cx="125730" cy="12573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486150" y="136017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Issue-level tracking of 100 system connection tasks across 3 tiers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03270" y="2286000"/>
            <a:ext cx="125730" cy="12573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86150" y="225171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Sprint planning &amp; team-based velocity tracking per phase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03270" y="3177540"/>
            <a:ext cx="125730" cy="12573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86150" y="314325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Roadmaps integrates with MS Project for single source of truth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03270" y="4069080"/>
            <a:ext cx="125730" cy="12573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486150" y="403479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Audience: MDA PM, Technical Architecture, PMO workstream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822960"/>
            <a:ext cx="2857500" cy="411480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72200" y="822960"/>
            <a:ext cx="2857500" cy="44577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252210" y="83439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Confluence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52210" y="1074420"/>
            <a:ext cx="2697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Knowledge / Documentation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75070" y="1394460"/>
            <a:ext cx="125730" cy="125730"/>
          </a:xfrm>
          <a:prstGeom prst="ellipse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57950" y="136017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MDA Blueprint v1 &amp; v2 documentation hub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75070" y="2286000"/>
            <a:ext cx="125730" cy="125730"/>
          </a:xfrm>
          <a:prstGeom prst="ellipse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57950" y="225171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review minutes, RACI matrices, interface catalogue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75070" y="3177540"/>
            <a:ext cx="125730" cy="125730"/>
          </a:xfrm>
          <a:prstGeom prst="ellipse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57950" y="314325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 to Jira tasks for full decision-to-delivery traceability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75070" y="4069080"/>
            <a:ext cx="125730" cy="125730"/>
          </a:xfrm>
          <a:prstGeom prst="ellipse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57950" y="4034790"/>
            <a:ext cx="2491740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18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Audience: All project participants + Works Council (read access)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28600" y="4994910"/>
            <a:ext cx="86868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1" i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[2] Kerzner, H. (2022). Project Management: A Systems Approach, 13th ed. Wiley, p. 133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40030"/>
            <a:ext cx="8686800" cy="50292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42900" y="251460"/>
            <a:ext cx="8458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31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4 &amp; 5 — INTEGRATED RISK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2900" y="3886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Risk Management Embedded in Organisation &amp; Milestones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822960"/>
            <a:ext cx="86868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7" i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management is not a separate workstream — it is embedded in the gate criteria at every milestone and in the RACI at every organisational level.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377190" cy="25146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62890" y="1143000"/>
            <a:ext cx="3429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8650" y="1143000"/>
            <a:ext cx="1623060" cy="25146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2940" y="1143000"/>
            <a:ext cx="158877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Layer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74570" y="1143000"/>
            <a:ext cx="2731770" cy="25146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308860" y="1143000"/>
            <a:ext cx="2697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143000"/>
            <a:ext cx="3874770" cy="25146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63490" y="1143000"/>
            <a:ext cx="3840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PM Response (Gate / RACI Action)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405890"/>
            <a:ext cx="37719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8650" y="1405890"/>
            <a:ext cx="162306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274570" y="1405890"/>
            <a:ext cx="273177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0" y="1405890"/>
            <a:ext cx="387477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85750" y="1531620"/>
            <a:ext cx="262890" cy="41148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85750" y="1531620"/>
            <a:ext cx="2628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3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4370" y="1463040"/>
            <a:ext cx="1565910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Strong Matrix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20290" y="1451610"/>
            <a:ext cx="267462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ambiguity &amp; dual reporting conflicts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74920" y="1451610"/>
            <a:ext cx="380619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RACI matrix defines decision rights; escalation path to Steering Committee (Davis &amp; Lawrence, 1977) [5]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2068830"/>
            <a:ext cx="377190" cy="6629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28650" y="2068830"/>
            <a:ext cx="1623060" cy="6629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274570" y="2068830"/>
            <a:ext cx="2731770" cy="6629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029200" y="2068830"/>
            <a:ext cx="3874770" cy="6629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85750" y="2194560"/>
            <a:ext cx="262890" cy="411480"/>
          </a:xfrm>
          <a:prstGeom prst="rect">
            <a:avLst/>
          </a:prstGeom>
          <a:solidFill>
            <a:srgbClr val="2C3F42"/>
          </a:solidFill>
          <a:ln w="12700">
            <a:solidFill>
              <a:srgbClr val="2C3F4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85750" y="2194560"/>
            <a:ext cx="2628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3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4370" y="2125980"/>
            <a:ext cx="1565910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20290" y="2114550"/>
            <a:ext cx="267462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Decisions contradicted across DB FZI / DB Systel / Vendors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74920" y="2114550"/>
            <a:ext cx="380619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Steering Committee with formal mandate; bi-weekly review; ad-hoc escalation protocol [1]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" y="2731770"/>
            <a:ext cx="37719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28650" y="2731770"/>
            <a:ext cx="162306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274570" y="2731770"/>
            <a:ext cx="273177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029200" y="2731770"/>
            <a:ext cx="387477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85750" y="2857500"/>
            <a:ext cx="262890" cy="41148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85750" y="2857500"/>
            <a:ext cx="2628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3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4370" y="2788920"/>
            <a:ext cx="1565910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 M0–M1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20290" y="2777490"/>
            <a:ext cx="267462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 interface surprises — 100 heterogeneous systems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74920" y="2777490"/>
            <a:ext cx="380619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M1 requires OPC-UA vendor contracts signed before Phase 1 authorised; Interface Catalogue v1 [9]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28600" y="3394710"/>
            <a:ext cx="377190" cy="6629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28650" y="3394710"/>
            <a:ext cx="1623060" cy="6629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74570" y="3394710"/>
            <a:ext cx="2731770" cy="6629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5029200" y="3394710"/>
            <a:ext cx="3874770" cy="662940"/>
          </a:xfrm>
          <a:prstGeom prst="rect">
            <a:avLst/>
          </a:prstGeom>
          <a:solidFill>
            <a:srgbClr val="F9FAFD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285750" y="3520440"/>
            <a:ext cx="262890" cy="41148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85750" y="3520440"/>
            <a:ext cx="2628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3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Q5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4370" y="3451860"/>
            <a:ext cx="1565910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 M2–M3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320290" y="3440430"/>
            <a:ext cx="267462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Council escalation on data usage levels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74920" y="3440430"/>
            <a:ext cx="380619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Gate M3 requires Works Council formal sign-off before Scale-Up authorised [8]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28600" y="4057650"/>
            <a:ext cx="37719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28650" y="4057650"/>
            <a:ext cx="162306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2274570" y="4057650"/>
            <a:ext cx="273177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5029200" y="4057650"/>
            <a:ext cx="3874770" cy="662940"/>
          </a:xfrm>
          <a:prstGeom prst="rect">
            <a:avLst/>
          </a:prstGeom>
          <a:solidFill>
            <a:srgbClr val="FFF8F0"/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285750" y="4183380"/>
            <a:ext cx="262890" cy="41148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85750" y="4183380"/>
            <a:ext cx="2628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3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74370" y="4114800"/>
            <a:ext cx="1565910" cy="560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E3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Gate M4–M5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320290" y="4103370"/>
            <a:ext cx="267462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BD302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Construction delays blocking system access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074920" y="4103370"/>
            <a:ext cx="380619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4–6 week buffer at each phase transition; Gate M4 held if access not confirmed [2]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228600" y="4812030"/>
            <a:ext cx="8686800" cy="205740"/>
          </a:xfrm>
          <a:prstGeom prst="rect">
            <a:avLst/>
          </a:prstGeom>
          <a:solidFill>
            <a:srgbClr val="FCE2CF">
              <a:alpha val="80000"/>
            </a:srgbClr>
          </a:solidFill>
          <a:ln w="12700">
            <a:solidFill>
              <a:srgbClr val="E2C8B5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228600" y="4812030"/>
            <a:ext cx="40005" cy="20574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20040" y="4812030"/>
            <a:ext cx="851535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b="1" i="1" dirty="0">
                <a:solidFill>
                  <a:srgbClr val="2B2E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stage-gate review is simultaneously a risk review — risk management is embedded at both organisational and milestone level.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143250"/>
            <a:ext cx="2857500" cy="2857500"/>
          </a:xfrm>
          <a:prstGeom prst="ellipse">
            <a:avLst/>
          </a:prstGeom>
          <a:solidFill>
            <a:srgbClr val="BD3022">
              <a:alpha val="75000"/>
            </a:srgbClr>
          </a:solidFill>
          <a:ln w="12700">
            <a:solidFill>
              <a:srgbClr val="BD3022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8600" y="240030"/>
            <a:ext cx="4857750" cy="4640580"/>
          </a:xfrm>
          <a:prstGeom prst="rect">
            <a:avLst/>
          </a:prstGeom>
          <a:solidFill>
            <a:srgbClr val="243539"/>
          </a:solidFill>
          <a:ln w="12700">
            <a:solidFill>
              <a:srgbClr val="243539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28600" y="240030"/>
            <a:ext cx="4857750" cy="34290"/>
          </a:xfrm>
          <a:prstGeom prst="rect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42900" y="297180"/>
            <a:ext cx="46291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2900" y="514350"/>
            <a:ext cx="462915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900" y="914400"/>
            <a:ext cx="274320" cy="27432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2900" y="914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7230" y="891540"/>
            <a:ext cx="425196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Strong Matrix Organisation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7230" y="1165860"/>
            <a:ext cx="42519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strong matrix with three dedicated workstreams provides the authority, accountability, and resource control required for a 50-subproject, 16-month programme.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" y="1828800"/>
            <a:ext cx="274320" cy="27432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29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230" y="1805940"/>
            <a:ext cx="425196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Stage-Gate® Milestones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230" y="2080260"/>
            <a:ext cx="42519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gate-controlled milestones (M0–M5) enforce deliverable-based progress — no phase advances without Steering Committee sign-off, embedding risk management into governance.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" y="2743200"/>
            <a:ext cx="274320" cy="27432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290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7230" y="2720340"/>
            <a:ext cx="425196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Hybrid Rollout — Tier by Tier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7230" y="2994660"/>
            <a:ext cx="42519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Safety-critical Tier 1 systems connect first (Pilot), followed by OEE-impact Tier 2, and standard Tier 3 — balancing compliance, value, and construction sequencing.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" y="3657600"/>
            <a:ext cx="274320" cy="274320"/>
          </a:xfrm>
          <a:prstGeom prst="ellipse">
            <a:avLst/>
          </a:prstGeom>
          <a:solidFill>
            <a:srgbClr val="D73729"/>
          </a:solidFill>
          <a:ln w="12700">
            <a:solidFill>
              <a:srgbClr val="D7372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29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5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230" y="3634740"/>
            <a:ext cx="4251960" cy="2628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12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Risk Is Embedded — Not Separate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230" y="3909060"/>
            <a:ext cx="42519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6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RACI, escalation paths, and gate criteria together ensure risk management is structural, not procedural — integrated at every organisational layer and milestone gate.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57800" y="240030"/>
            <a:ext cx="3657600" cy="4640580"/>
          </a:xfrm>
          <a:prstGeom prst="rect">
            <a:avLst/>
          </a:prstGeom>
          <a:solidFill>
            <a:srgbClr val="182A2E"/>
          </a:solidFill>
          <a:ln w="12700">
            <a:solidFill>
              <a:srgbClr val="182A2E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257800" y="240030"/>
            <a:ext cx="3657600" cy="3429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360670" y="297180"/>
            <a:ext cx="3486150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7" b="1" spc="300" kern="0" dirty="0">
                <a:solidFill>
                  <a:srgbClr val="E2C8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60670" y="605790"/>
            <a:ext cx="348615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[1]  PMI. (2021). PMBOK® Guide — A Guide to the Project Management Body of Knowledge, 7th ed. Project Management Institute. pp. 52, 160, 245.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60670" y="1097280"/>
            <a:ext cx="348615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[2]  Kerzner, H. (2022). Project Management: A Systems Approach to Planning, Scheduling, and Controlling, 13th ed. Wiley. pp. 24, 108, 133.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60670" y="1588770"/>
            <a:ext cx="348615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[4]  Galbraith, J. R. (1971). Matrix Organization Designs: How to Combine Functional and Project Forms. Business Horizons, 14(1), 29–40.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60670" y="2080260"/>
            <a:ext cx="348615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[5]  Davis, S. M., &amp; Lawrence, P. R. (1977). Matrix. Addison-Wesley. pp. 131, 134.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60670" y="2571750"/>
            <a:ext cx="348615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[7]  Turner, J. R., &amp; Cochrane, R. A. (1993). Goals-and-methods matrix: Coping with projects with ill defined goals and/or methods of achieving them. International Journal of Project Management, 11(2), 93–102.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60670" y="3063240"/>
            <a:ext cx="348615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[8]  Miranda, E. (2019). Milestone Planning. PM World Journal, VIII(XI). Citing Andersen, E. S., Grude, K. V., &amp; Haug, T. (2009).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60670" y="3554730"/>
            <a:ext cx="348615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[9]  Cooper, R. G. (1990). Stage-gate systems: A new tool for managing new products. Business Horizons, 33(3), 44–54.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60670" y="4046220"/>
            <a:ext cx="348615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93" dirty="0">
                <a:solidFill>
                  <a:srgbClr val="AABCB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[10] Cooper, R. G. (2008). The Stage-Gate® Idea-to-Launch Process — Update, What's New, and NexGen Systems. Journal of Product Innovation Management, 25(3), 213–232.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80610"/>
            <a:ext cx="9144000" cy="262890"/>
          </a:xfrm>
          <a:prstGeom prst="rect">
            <a:avLst/>
          </a:prstGeom>
          <a:solidFill>
            <a:srgbClr val="BD3022"/>
          </a:solidFill>
          <a:ln w="12700">
            <a:solidFill>
              <a:srgbClr val="BD30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0" y="4880610"/>
            <a:ext cx="9144000" cy="262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5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DB FZI — MDA Project  ·  New Cottbus Plant  ·  Target: June 2027 SoP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2026-03-05T08:03:14Z</dcterms:created>
  <dcterms:modified xsi:type="dcterms:W3CDTF">2026-03-05T08:03:14Z</dcterms:modified>
</cp:coreProperties>
</file>